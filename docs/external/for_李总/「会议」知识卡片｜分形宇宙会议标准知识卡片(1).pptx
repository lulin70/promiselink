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5" r:id="rId3"/>
    <p:sldId id="269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5"/>
  </p:normalViewPr>
  <p:slideViewPr>
    <p:cSldViewPr snapToGrid="0" showGuides="1">
      <p:cViewPr varScale="1">
        <p:scale>
          <a:sx n="90" d="100"/>
          <a:sy n="90" d="100"/>
        </p:scale>
        <p:origin x="133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5309C70-C098-CF34-F501-41679A86DFF2}"/>
              </a:ext>
            </a:extLst>
          </p:cNvPr>
          <p:cNvSpPr/>
          <p:nvPr userDrawn="1"/>
        </p:nvSpPr>
        <p:spPr>
          <a:xfrm>
            <a:off x="0" y="0"/>
            <a:ext cx="12192000" cy="93317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7D2AC0A7-EE77-2520-20DC-57E6D26325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0147" y="236881"/>
            <a:ext cx="1921566" cy="512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107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2" userDrawn="1">
          <p15:clr>
            <a:srgbClr val="FBAE40"/>
          </p15:clr>
        </p15:guide>
        <p15:guide id="4" orient="horz" pos="482" userDrawn="1">
          <p15:clr>
            <a:srgbClr val="FBAE40"/>
          </p15:clr>
        </p15:guide>
        <p15:guide id="5" pos="234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413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1244B-C6FE-F04D-E004-6277FE68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61917C-E26C-F565-B04E-8C493F1D5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FA690E-7F48-86B0-B5F8-D7A2533D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D5CBB7-865F-192B-64F9-0149211AD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6055BB-FB42-B2A6-E6C1-28F3EEB4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241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3BF09-B0EF-F922-3C34-2BD70A10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DDBCDA-48CB-2C1D-DCF0-AB5F7BD47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E3B0FB-CE0C-9E27-9258-AA91E283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84FB66-ED83-AFCF-0FDF-00BD24F8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BD0F4D-6B01-1BD2-806B-887764333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774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AD679-036C-A1D8-80C8-4E30725F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09996-E766-985C-DEEC-C5C371E4B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16DA4F-540B-323E-63A7-6E657CB79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3D4E0F-184A-86B1-7131-4E6BC62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336766-BFF2-D6D1-6C6A-48DB26B3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05B91D-6A95-9459-9E5C-F89D05BD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186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29EEB-AB2C-A4EC-4FF8-E7CEF079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A719A6-BE48-8AC5-7982-42D33DDCE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626373-08E8-EF3D-7561-B9DBE5FFC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36190B-A7BE-EC81-F752-C1F7463B9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48C2EB-362E-A09D-0E4A-537D07499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79E381-98E6-089D-1770-CDD62621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39A3F0-E628-58CC-43E7-A3BF45834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35B2CE-7AF6-789B-F1F7-F6A48607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197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1DBDD-1290-9096-027D-CD2214B4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9922FF-FC6E-C68C-DB85-EF99CFEB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D68F0F-B3A3-0CED-9A2D-D4FA3D83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58BFC5-4406-A716-273A-B6DA9ECD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110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EE1413-6A69-1621-127C-140A1878E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3FFB9A-89F7-EA55-BA41-2453927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F7E66D-03B1-D611-2DDD-92972616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024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CCCC0-EF6F-0729-D18A-0F9F5FD4F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666284-228A-93BC-4CAB-78F437500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D1DA28-D3FA-CC28-6161-8B9B77AC7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2881A2-F4EF-5D84-5E1F-C2634ED9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E21FD9-AD24-EC50-78EB-8AC4E603F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48CA03-AED9-2AA5-A8E0-4E816E68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6851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EB65D-48FC-F406-AB6F-F72DEECD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631270-3537-FF40-AC68-D39EF6985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139B84-BA59-0E86-23F3-329FE2675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46CA6E-686B-B1F8-5BBE-12D76429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4685A4-F8DE-7D65-D9BB-DFE475F2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6987BC-8B37-2E6A-996A-9C83BACD3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539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B7B8E-EE1F-8FDA-98F1-5FB6E468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0E5CB2-25B3-2D83-7D03-D2AEFA50C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42DD84-578E-45A9-C915-467466AC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F4847-84B5-B68B-816B-EDF8E1AB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4F6EB-6820-7E84-8A16-E7C03464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040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47CA51-22B5-F624-0B3E-D5A090C7A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CEB6E3-C4B0-AE91-938F-3292C401A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85868E-108E-D440-02A7-0EFF2D086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CBD1B8-7984-FB46-D500-2B2D7BFA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DA868A-3ADB-3BCF-8259-92E4BE5E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9377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EC838D-18D7-8CCF-DE5E-6A97D4E09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4095F5-B3AD-5825-0138-110E35213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C7B9A-2E53-26CF-87DF-DB486E445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EB5A2-0C8D-954D-89C0-B9F978127C0E}" type="datetimeFigureOut">
              <a:rPr kumimoji="1" lang="zh-CN" altLang="en-US" smtClean="0"/>
              <a:t>2026/5/14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5B740-F0BC-B49E-BC9F-5C68B04936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DE7B16-7182-A6FE-63C0-4BA6DA9BB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1E56D-0201-1B45-8F54-C67AEDED38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483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E1AAC0-1980-A4C8-95D4-E6D03587E1CB}"/>
              </a:ext>
            </a:extLst>
          </p:cNvPr>
          <p:cNvSpPr txBox="1"/>
          <p:nvPr/>
        </p:nvSpPr>
        <p:spPr>
          <a:xfrm>
            <a:off x="0" y="1960570"/>
            <a:ext cx="12192000" cy="2651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5800" dirty="0">
                <a:latin typeface="OPPOSans H" pitchFamily="18" charset="-122"/>
                <a:ea typeface="OPPOSans H" pitchFamily="18" charset="-122"/>
                <a:cs typeface="OPPOSans H" pitchFamily="18" charset="-122"/>
              </a:rPr>
              <a:t>分形宇宙｜「会议」知识卡片</a:t>
            </a:r>
            <a:endParaRPr kumimoji="1" lang="en-US" altLang="zh-CN" sz="5800" dirty="0">
              <a:latin typeface="OPPOSans H" pitchFamily="18" charset="-122"/>
              <a:ea typeface="OPPOSans H" pitchFamily="18" charset="-122"/>
              <a:cs typeface="OPPOSans H" pitchFamily="18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5800" dirty="0">
                <a:latin typeface="OPPOSans H" pitchFamily="18" charset="-122"/>
                <a:ea typeface="OPPOSans H" pitchFamily="18" charset="-122"/>
                <a:cs typeface="OPPOSans H" pitchFamily="18" charset="-122"/>
              </a:rPr>
              <a:t>标准模块说明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D073B8-4363-6149-F6E7-94E4AC870D21}"/>
              </a:ext>
            </a:extLst>
          </p:cNvPr>
          <p:cNvSpPr txBox="1"/>
          <p:nvPr/>
        </p:nvSpPr>
        <p:spPr>
          <a:xfrm>
            <a:off x="0" y="5457825"/>
            <a:ext cx="12192000" cy="798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>
              <a:lnSpc>
                <a:spcPct val="150000"/>
              </a:lnSpc>
            </a:pPr>
            <a:r>
              <a:rPr kumimoji="1" lang="zh-CN" altLang="en-US" sz="16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更新时间：</a:t>
            </a:r>
            <a:r>
              <a:rPr kumimoji="1" lang="en-US" altLang="zh-CN" sz="16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2026</a:t>
            </a:r>
            <a:r>
              <a:rPr kumimoji="1" lang="zh-CN" altLang="en-US" sz="16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年</a:t>
            </a:r>
            <a:r>
              <a:rPr kumimoji="1" lang="en-US" altLang="zh-CN" sz="16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4</a:t>
            </a:r>
            <a:r>
              <a:rPr kumimoji="1" lang="zh-CN" altLang="en-US" sz="16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月</a:t>
            </a:r>
            <a:r>
              <a:rPr kumimoji="1" lang="en-US" altLang="zh-CN" sz="16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5</a:t>
            </a:r>
            <a:r>
              <a:rPr kumimoji="1" lang="zh-CN" altLang="en-US" sz="16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日</a:t>
            </a:r>
            <a:endParaRPr kumimoji="1" lang="en-US" altLang="zh-CN" sz="1600" dirty="0"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  <a:p>
            <a:pPr lvl="8">
              <a:lnSpc>
                <a:spcPct val="150000"/>
              </a:lnSpc>
            </a:pPr>
            <a:r>
              <a:rPr kumimoji="1" lang="zh-CN" altLang="en-US" sz="16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版本：</a:t>
            </a:r>
            <a:r>
              <a:rPr kumimoji="1" lang="en-US" altLang="zh-CN" sz="16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1.0.0.1</a:t>
            </a:r>
            <a:endParaRPr kumimoji="1" lang="zh-CN" altLang="en-US" sz="1600" dirty="0"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384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D7141C8-D125-0529-A47D-C4B77E93C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4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19">
            <a:extLst>
              <a:ext uri="{FF2B5EF4-FFF2-40B4-BE49-F238E27FC236}">
                <a16:creationId xmlns:a16="http://schemas.microsoft.com/office/drawing/2014/main" id="{83DA4DE8-C64B-3A2A-DE70-1ADEDD373A0C}"/>
              </a:ext>
            </a:extLst>
          </p:cNvPr>
          <p:cNvSpPr/>
          <p:nvPr/>
        </p:nvSpPr>
        <p:spPr>
          <a:xfrm>
            <a:off x="0" y="676223"/>
            <a:ext cx="12192000" cy="6045048"/>
          </a:xfrm>
          <a:custGeom>
            <a:avLst/>
            <a:gdLst>
              <a:gd name="connsiteX0" fmla="*/ 0 w 12192000"/>
              <a:gd name="connsiteY0" fmla="*/ 0 h 6045048"/>
              <a:gd name="connsiteX1" fmla="*/ 122523 w 12192000"/>
              <a:gd name="connsiteY1" fmla="*/ 112724 h 6045048"/>
              <a:gd name="connsiteX2" fmla="*/ 6284686 w 12192000"/>
              <a:gd name="connsiteY2" fmla="*/ 2045208 h 6045048"/>
              <a:gd name="connsiteX3" fmla="*/ 12019050 w 12192000"/>
              <a:gd name="connsiteY3" fmla="*/ 450153 h 6045048"/>
              <a:gd name="connsiteX4" fmla="*/ 12192000 w 12192000"/>
              <a:gd name="connsiteY4" fmla="*/ 320344 h 6045048"/>
              <a:gd name="connsiteX5" fmla="*/ 12192000 w 12192000"/>
              <a:gd name="connsiteY5" fmla="*/ 5724703 h 6045048"/>
              <a:gd name="connsiteX6" fmla="*/ 12019050 w 12192000"/>
              <a:gd name="connsiteY6" fmla="*/ 5594895 h 6045048"/>
              <a:gd name="connsiteX7" fmla="*/ 6284686 w 12192000"/>
              <a:gd name="connsiteY7" fmla="*/ 3999839 h 6045048"/>
              <a:gd name="connsiteX8" fmla="*/ 122523 w 12192000"/>
              <a:gd name="connsiteY8" fmla="*/ 5932323 h 6045048"/>
              <a:gd name="connsiteX9" fmla="*/ 0 w 12192000"/>
              <a:gd name="connsiteY9" fmla="*/ 6045048 h 604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045048">
                <a:moveTo>
                  <a:pt x="0" y="0"/>
                </a:moveTo>
                <a:lnTo>
                  <a:pt x="122523" y="112724"/>
                </a:lnTo>
                <a:cubicBezTo>
                  <a:pt x="1457984" y="1278647"/>
                  <a:pt x="3719560" y="2045208"/>
                  <a:pt x="6284686" y="2045208"/>
                </a:cubicBezTo>
                <a:cubicBezTo>
                  <a:pt x="8593300" y="2045208"/>
                  <a:pt x="10656037" y="1424293"/>
                  <a:pt x="12019050" y="450153"/>
                </a:cubicBezTo>
                <a:lnTo>
                  <a:pt x="12192000" y="320344"/>
                </a:lnTo>
                <a:lnTo>
                  <a:pt x="12192000" y="5724703"/>
                </a:lnTo>
                <a:lnTo>
                  <a:pt x="12019050" y="5594895"/>
                </a:lnTo>
                <a:cubicBezTo>
                  <a:pt x="10656037" y="4620754"/>
                  <a:pt x="8593300" y="3999839"/>
                  <a:pt x="6284686" y="3999839"/>
                </a:cubicBezTo>
                <a:cubicBezTo>
                  <a:pt x="3719560" y="3999839"/>
                  <a:pt x="1457984" y="4766401"/>
                  <a:pt x="122523" y="5932323"/>
                </a:cubicBezTo>
                <a:lnTo>
                  <a:pt x="0" y="6045048"/>
                </a:lnTo>
                <a:close/>
              </a:path>
            </a:pathLst>
          </a:custGeom>
          <a:gradFill flip="none" rotWithShape="1">
            <a:gsLst>
              <a:gs pos="49000">
                <a:srgbClr val="4B77F4">
                  <a:alpha val="5000"/>
                </a:srgbClr>
              </a:gs>
              <a:gs pos="0">
                <a:srgbClr val="4B77F4">
                  <a:alpha val="17000"/>
                </a:srgbClr>
              </a:gs>
              <a:gs pos="100000">
                <a:srgbClr val="4B77F4">
                  <a:alpha val="17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irmala UI"/>
              <a:ea typeface="思源黑体 CN Normal"/>
              <a:cs typeface="+mn-cs"/>
            </a:endParaRPr>
          </a:p>
        </p:txBody>
      </p:sp>
      <p:sp>
        <p:nvSpPr>
          <p:cNvPr id="5" name="任意多边形: 形状 20">
            <a:extLst>
              <a:ext uri="{FF2B5EF4-FFF2-40B4-BE49-F238E27FC236}">
                <a16:creationId xmlns:a16="http://schemas.microsoft.com/office/drawing/2014/main" id="{E1887004-1FB4-8289-2EE4-C03296188D0B}"/>
              </a:ext>
            </a:extLst>
          </p:cNvPr>
          <p:cNvSpPr/>
          <p:nvPr/>
        </p:nvSpPr>
        <p:spPr>
          <a:xfrm>
            <a:off x="0" y="933293"/>
            <a:ext cx="12192000" cy="6045048"/>
          </a:xfrm>
          <a:custGeom>
            <a:avLst/>
            <a:gdLst>
              <a:gd name="connsiteX0" fmla="*/ 0 w 12192000"/>
              <a:gd name="connsiteY0" fmla="*/ 0 h 6045048"/>
              <a:gd name="connsiteX1" fmla="*/ 122523 w 12192000"/>
              <a:gd name="connsiteY1" fmla="*/ 112724 h 6045048"/>
              <a:gd name="connsiteX2" fmla="*/ 6284686 w 12192000"/>
              <a:gd name="connsiteY2" fmla="*/ 2045208 h 6045048"/>
              <a:gd name="connsiteX3" fmla="*/ 12019050 w 12192000"/>
              <a:gd name="connsiteY3" fmla="*/ 450153 h 6045048"/>
              <a:gd name="connsiteX4" fmla="*/ 12192000 w 12192000"/>
              <a:gd name="connsiteY4" fmla="*/ 320344 h 6045048"/>
              <a:gd name="connsiteX5" fmla="*/ 12192000 w 12192000"/>
              <a:gd name="connsiteY5" fmla="*/ 5724703 h 6045048"/>
              <a:gd name="connsiteX6" fmla="*/ 12019050 w 12192000"/>
              <a:gd name="connsiteY6" fmla="*/ 5594895 h 6045048"/>
              <a:gd name="connsiteX7" fmla="*/ 6284686 w 12192000"/>
              <a:gd name="connsiteY7" fmla="*/ 3999839 h 6045048"/>
              <a:gd name="connsiteX8" fmla="*/ 122523 w 12192000"/>
              <a:gd name="connsiteY8" fmla="*/ 5932323 h 6045048"/>
              <a:gd name="connsiteX9" fmla="*/ 0 w 12192000"/>
              <a:gd name="connsiteY9" fmla="*/ 6045048 h 604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045048">
                <a:moveTo>
                  <a:pt x="0" y="0"/>
                </a:moveTo>
                <a:lnTo>
                  <a:pt x="122523" y="112724"/>
                </a:lnTo>
                <a:cubicBezTo>
                  <a:pt x="1457984" y="1278647"/>
                  <a:pt x="3719560" y="2045208"/>
                  <a:pt x="6284686" y="2045208"/>
                </a:cubicBezTo>
                <a:cubicBezTo>
                  <a:pt x="8593300" y="2045208"/>
                  <a:pt x="10656037" y="1424293"/>
                  <a:pt x="12019050" y="450153"/>
                </a:cubicBezTo>
                <a:lnTo>
                  <a:pt x="12192000" y="320344"/>
                </a:lnTo>
                <a:lnTo>
                  <a:pt x="12192000" y="5724703"/>
                </a:lnTo>
                <a:lnTo>
                  <a:pt x="12019050" y="5594895"/>
                </a:lnTo>
                <a:cubicBezTo>
                  <a:pt x="10656037" y="4620754"/>
                  <a:pt x="8593300" y="3999839"/>
                  <a:pt x="6284686" y="3999839"/>
                </a:cubicBezTo>
                <a:cubicBezTo>
                  <a:pt x="3719560" y="3999839"/>
                  <a:pt x="1457984" y="4766401"/>
                  <a:pt x="122523" y="5932323"/>
                </a:cubicBezTo>
                <a:lnTo>
                  <a:pt x="0" y="6045048"/>
                </a:lnTo>
                <a:close/>
              </a:path>
            </a:pathLst>
          </a:custGeom>
          <a:gradFill flip="none" rotWithShape="1">
            <a:gsLst>
              <a:gs pos="63000">
                <a:schemeClr val="accent5">
                  <a:lumMod val="75000"/>
                </a:schemeClr>
              </a:gs>
              <a:gs pos="41000">
                <a:schemeClr val="accent5">
                  <a:lumMod val="60000"/>
                  <a:lumOff val="40000"/>
                </a:schemeClr>
              </a:gs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 w="25400" cap="flat" cmpd="sng" algn="ctr">
            <a:gradFill>
              <a:gsLst>
                <a:gs pos="0">
                  <a:srgbClr val="4B77F4">
                    <a:alpha val="0"/>
                  </a:srgbClr>
                </a:gs>
                <a:gs pos="53000">
                  <a:srgbClr val="4B77F4">
                    <a:alpha val="15000"/>
                  </a:srgbClr>
                </a:gs>
                <a:gs pos="100000">
                  <a:srgbClr val="4B77F4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irmala UI"/>
              <a:ea typeface="思源黑体 CN Normal"/>
              <a:cs typeface="+mn-cs"/>
            </a:endParaRPr>
          </a:p>
        </p:txBody>
      </p:sp>
      <p:grpSp>
        <p:nvGrpSpPr>
          <p:cNvPr id="6" name="图形 2">
            <a:extLst>
              <a:ext uri="{FF2B5EF4-FFF2-40B4-BE49-F238E27FC236}">
                <a16:creationId xmlns:a16="http://schemas.microsoft.com/office/drawing/2014/main" id="{9DA83EFB-2668-150E-14CD-2750FBD5D11C}"/>
              </a:ext>
            </a:extLst>
          </p:cNvPr>
          <p:cNvGrpSpPr/>
          <p:nvPr/>
        </p:nvGrpSpPr>
        <p:grpSpPr>
          <a:xfrm>
            <a:off x="593872" y="3206270"/>
            <a:ext cx="1378248" cy="1239040"/>
            <a:chOff x="4705111" y="5521007"/>
            <a:chExt cx="1067276" cy="959476"/>
          </a:xfrm>
          <a:solidFill>
            <a:srgbClr val="FFFFFF">
              <a:alpha val="34000"/>
            </a:srgbClr>
          </a:solidFill>
        </p:grpSpPr>
        <p:sp>
          <p:nvSpPr>
            <p:cNvPr id="7" name="任意多边形: 形状 80">
              <a:extLst>
                <a:ext uri="{FF2B5EF4-FFF2-40B4-BE49-F238E27FC236}">
                  <a16:creationId xmlns:a16="http://schemas.microsoft.com/office/drawing/2014/main" id="{EEDD9D38-6925-1D88-E2F2-FFFD34A456AA}"/>
                </a:ext>
              </a:extLst>
            </p:cNvPr>
            <p:cNvSpPr/>
            <p:nvPr/>
          </p:nvSpPr>
          <p:spPr>
            <a:xfrm>
              <a:off x="4705111" y="5521007"/>
              <a:ext cx="1067276" cy="88657"/>
            </a:xfrm>
            <a:custGeom>
              <a:avLst/>
              <a:gdLst>
                <a:gd name="connsiteX0" fmla="*/ 1022948 w 1067276"/>
                <a:gd name="connsiteY0" fmla="*/ 88657 h 88657"/>
                <a:gd name="connsiteX1" fmla="*/ 44328 w 1067276"/>
                <a:gd name="connsiteY1" fmla="*/ 88657 h 88657"/>
                <a:gd name="connsiteX2" fmla="*/ 0 w 1067276"/>
                <a:gd name="connsiteY2" fmla="*/ 44329 h 88657"/>
                <a:gd name="connsiteX3" fmla="*/ 0 w 1067276"/>
                <a:gd name="connsiteY3" fmla="*/ 44329 h 88657"/>
                <a:gd name="connsiteX4" fmla="*/ 44328 w 1067276"/>
                <a:gd name="connsiteY4" fmla="*/ 0 h 88657"/>
                <a:gd name="connsiteX5" fmla="*/ 1022948 w 1067276"/>
                <a:gd name="connsiteY5" fmla="*/ 0 h 88657"/>
                <a:gd name="connsiteX6" fmla="*/ 1067276 w 1067276"/>
                <a:gd name="connsiteY6" fmla="*/ 44329 h 88657"/>
                <a:gd name="connsiteX7" fmla="*/ 1067276 w 1067276"/>
                <a:gd name="connsiteY7" fmla="*/ 44329 h 88657"/>
                <a:gd name="connsiteX8" fmla="*/ 1022948 w 1067276"/>
                <a:gd name="connsiteY8" fmla="*/ 88657 h 8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7276" h="88657">
                  <a:moveTo>
                    <a:pt x="1022948" y="88657"/>
                  </a:moveTo>
                  <a:lnTo>
                    <a:pt x="44328" y="88657"/>
                  </a:lnTo>
                  <a:cubicBezTo>
                    <a:pt x="19845" y="88657"/>
                    <a:pt x="0" y="68812"/>
                    <a:pt x="0" y="44329"/>
                  </a:cubicBezTo>
                  <a:lnTo>
                    <a:pt x="0" y="44329"/>
                  </a:lnTo>
                  <a:cubicBezTo>
                    <a:pt x="0" y="19845"/>
                    <a:pt x="19845" y="0"/>
                    <a:pt x="44328" y="0"/>
                  </a:cubicBezTo>
                  <a:lnTo>
                    <a:pt x="1022948" y="0"/>
                  </a:lnTo>
                  <a:cubicBezTo>
                    <a:pt x="1047431" y="0"/>
                    <a:pt x="1067276" y="19845"/>
                    <a:pt x="1067276" y="44329"/>
                  </a:cubicBezTo>
                  <a:lnTo>
                    <a:pt x="1067276" y="44329"/>
                  </a:lnTo>
                  <a:cubicBezTo>
                    <a:pt x="1067276" y="68812"/>
                    <a:pt x="1047431" y="88657"/>
                    <a:pt x="1022948" y="88657"/>
                  </a:cubicBez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  <p:sp>
          <p:nvSpPr>
            <p:cNvPr id="8" name="任意多边形: 形状 81">
              <a:extLst>
                <a:ext uri="{FF2B5EF4-FFF2-40B4-BE49-F238E27FC236}">
                  <a16:creationId xmlns:a16="http://schemas.microsoft.com/office/drawing/2014/main" id="{E561EC5B-90D4-4FB1-4DE7-E8A0F45AD3CB}"/>
                </a:ext>
              </a:extLst>
            </p:cNvPr>
            <p:cNvSpPr/>
            <p:nvPr/>
          </p:nvSpPr>
          <p:spPr>
            <a:xfrm>
              <a:off x="4705111" y="6391827"/>
              <a:ext cx="1067276" cy="88656"/>
            </a:xfrm>
            <a:custGeom>
              <a:avLst/>
              <a:gdLst>
                <a:gd name="connsiteX0" fmla="*/ 1022948 w 1067276"/>
                <a:gd name="connsiteY0" fmla="*/ 88657 h 88656"/>
                <a:gd name="connsiteX1" fmla="*/ 44328 w 1067276"/>
                <a:gd name="connsiteY1" fmla="*/ 88657 h 88656"/>
                <a:gd name="connsiteX2" fmla="*/ 0 w 1067276"/>
                <a:gd name="connsiteY2" fmla="*/ 44329 h 88656"/>
                <a:gd name="connsiteX3" fmla="*/ 0 w 1067276"/>
                <a:gd name="connsiteY3" fmla="*/ 44329 h 88656"/>
                <a:gd name="connsiteX4" fmla="*/ 44328 w 1067276"/>
                <a:gd name="connsiteY4" fmla="*/ 0 h 88656"/>
                <a:gd name="connsiteX5" fmla="*/ 1022948 w 1067276"/>
                <a:gd name="connsiteY5" fmla="*/ 0 h 88656"/>
                <a:gd name="connsiteX6" fmla="*/ 1067276 w 1067276"/>
                <a:gd name="connsiteY6" fmla="*/ 44329 h 88656"/>
                <a:gd name="connsiteX7" fmla="*/ 1067276 w 1067276"/>
                <a:gd name="connsiteY7" fmla="*/ 44329 h 88656"/>
                <a:gd name="connsiteX8" fmla="*/ 1022948 w 1067276"/>
                <a:gd name="connsiteY8" fmla="*/ 88657 h 8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7276" h="88656">
                  <a:moveTo>
                    <a:pt x="1022948" y="88657"/>
                  </a:moveTo>
                  <a:lnTo>
                    <a:pt x="44328" y="88657"/>
                  </a:lnTo>
                  <a:cubicBezTo>
                    <a:pt x="19845" y="88657"/>
                    <a:pt x="0" y="68811"/>
                    <a:pt x="0" y="44329"/>
                  </a:cubicBezTo>
                  <a:lnTo>
                    <a:pt x="0" y="44329"/>
                  </a:lnTo>
                  <a:cubicBezTo>
                    <a:pt x="0" y="19845"/>
                    <a:pt x="19845" y="0"/>
                    <a:pt x="44328" y="0"/>
                  </a:cubicBezTo>
                  <a:lnTo>
                    <a:pt x="1022948" y="0"/>
                  </a:lnTo>
                  <a:cubicBezTo>
                    <a:pt x="1047431" y="0"/>
                    <a:pt x="1067276" y="19845"/>
                    <a:pt x="1067276" y="44329"/>
                  </a:cubicBezTo>
                  <a:lnTo>
                    <a:pt x="1067276" y="44329"/>
                  </a:lnTo>
                  <a:cubicBezTo>
                    <a:pt x="1067276" y="68811"/>
                    <a:pt x="1047431" y="88657"/>
                    <a:pt x="1022948" y="88657"/>
                  </a:cubicBez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  <p:sp>
          <p:nvSpPr>
            <p:cNvPr id="9" name="任意多边形: 形状 82">
              <a:extLst>
                <a:ext uri="{FF2B5EF4-FFF2-40B4-BE49-F238E27FC236}">
                  <a16:creationId xmlns:a16="http://schemas.microsoft.com/office/drawing/2014/main" id="{86B9A499-C001-FE06-550E-873D0E27F052}"/>
                </a:ext>
              </a:extLst>
            </p:cNvPr>
            <p:cNvSpPr/>
            <p:nvPr/>
          </p:nvSpPr>
          <p:spPr>
            <a:xfrm>
              <a:off x="4748694" y="5562523"/>
              <a:ext cx="980119" cy="876460"/>
            </a:xfrm>
            <a:custGeom>
              <a:avLst/>
              <a:gdLst>
                <a:gd name="connsiteX0" fmla="*/ 944947 w 980119"/>
                <a:gd name="connsiteY0" fmla="*/ 876461 h 876460"/>
                <a:gd name="connsiteX1" fmla="*/ 35164 w 980119"/>
                <a:gd name="connsiteY1" fmla="*/ 876461 h 876460"/>
                <a:gd name="connsiteX2" fmla="*/ 0 w 980119"/>
                <a:gd name="connsiteY2" fmla="*/ 841296 h 876460"/>
                <a:gd name="connsiteX3" fmla="*/ 0 w 980119"/>
                <a:gd name="connsiteY3" fmla="*/ 35164 h 876460"/>
                <a:gd name="connsiteX4" fmla="*/ 35164 w 980119"/>
                <a:gd name="connsiteY4" fmla="*/ 0 h 876460"/>
                <a:gd name="connsiteX5" fmla="*/ 944955 w 980119"/>
                <a:gd name="connsiteY5" fmla="*/ 0 h 876460"/>
                <a:gd name="connsiteX6" fmla="*/ 980120 w 980119"/>
                <a:gd name="connsiteY6" fmla="*/ 35164 h 876460"/>
                <a:gd name="connsiteX7" fmla="*/ 980120 w 980119"/>
                <a:gd name="connsiteY7" fmla="*/ 841296 h 876460"/>
                <a:gd name="connsiteX8" fmla="*/ 944947 w 980119"/>
                <a:gd name="connsiteY8" fmla="*/ 876461 h 876460"/>
                <a:gd name="connsiteX9" fmla="*/ 42854 w 980119"/>
                <a:gd name="connsiteY9" fmla="*/ 833598 h 876460"/>
                <a:gd name="connsiteX10" fmla="*/ 937248 w 980119"/>
                <a:gd name="connsiteY10" fmla="*/ 833598 h 876460"/>
                <a:gd name="connsiteX11" fmla="*/ 937248 w 980119"/>
                <a:gd name="connsiteY11" fmla="*/ 42854 h 876460"/>
                <a:gd name="connsiteX12" fmla="*/ 42854 w 980119"/>
                <a:gd name="connsiteY12" fmla="*/ 42854 h 876460"/>
                <a:gd name="connsiteX13" fmla="*/ 42854 w 980119"/>
                <a:gd name="connsiteY13" fmla="*/ 833598 h 876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80119" h="876460">
                  <a:moveTo>
                    <a:pt x="944947" y="876461"/>
                  </a:moveTo>
                  <a:lnTo>
                    <a:pt x="35164" y="876461"/>
                  </a:lnTo>
                  <a:cubicBezTo>
                    <a:pt x="15773" y="876461"/>
                    <a:pt x="0" y="860679"/>
                    <a:pt x="0" y="841296"/>
                  </a:cubicBezTo>
                  <a:lnTo>
                    <a:pt x="0" y="35164"/>
                  </a:lnTo>
                  <a:cubicBezTo>
                    <a:pt x="0" y="15773"/>
                    <a:pt x="15773" y="0"/>
                    <a:pt x="35164" y="0"/>
                  </a:cubicBezTo>
                  <a:lnTo>
                    <a:pt x="944955" y="0"/>
                  </a:lnTo>
                  <a:cubicBezTo>
                    <a:pt x="964346" y="0"/>
                    <a:pt x="980120" y="15782"/>
                    <a:pt x="980120" y="35164"/>
                  </a:cubicBezTo>
                  <a:lnTo>
                    <a:pt x="980120" y="841296"/>
                  </a:lnTo>
                  <a:cubicBezTo>
                    <a:pt x="980120" y="860679"/>
                    <a:pt x="964338" y="876461"/>
                    <a:pt x="944947" y="876461"/>
                  </a:cubicBezTo>
                  <a:close/>
                  <a:moveTo>
                    <a:pt x="42854" y="833598"/>
                  </a:moveTo>
                  <a:lnTo>
                    <a:pt x="937248" y="833598"/>
                  </a:lnTo>
                  <a:lnTo>
                    <a:pt x="937248" y="42854"/>
                  </a:lnTo>
                  <a:lnTo>
                    <a:pt x="42854" y="42854"/>
                  </a:lnTo>
                  <a:lnTo>
                    <a:pt x="42854" y="833598"/>
                  </a:ln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  <p:sp>
          <p:nvSpPr>
            <p:cNvPr id="10" name="任意多边形: 形状 83">
              <a:extLst>
                <a:ext uri="{FF2B5EF4-FFF2-40B4-BE49-F238E27FC236}">
                  <a16:creationId xmlns:a16="http://schemas.microsoft.com/office/drawing/2014/main" id="{BD908BB0-1D2B-C6DF-8B48-E91A4AAE1E24}"/>
                </a:ext>
              </a:extLst>
            </p:cNvPr>
            <p:cNvSpPr/>
            <p:nvPr/>
          </p:nvSpPr>
          <p:spPr>
            <a:xfrm>
              <a:off x="4982286" y="5762220"/>
              <a:ext cx="471418" cy="471418"/>
            </a:xfrm>
            <a:custGeom>
              <a:avLst/>
              <a:gdLst>
                <a:gd name="connsiteX0" fmla="*/ 235709 w 471418"/>
                <a:gd name="connsiteY0" fmla="*/ 0 h 471418"/>
                <a:gd name="connsiteX1" fmla="*/ 0 w 471418"/>
                <a:gd name="connsiteY1" fmla="*/ 235710 h 471418"/>
                <a:gd name="connsiteX2" fmla="*/ 235709 w 471418"/>
                <a:gd name="connsiteY2" fmla="*/ 471419 h 471418"/>
                <a:gd name="connsiteX3" fmla="*/ 471419 w 471418"/>
                <a:gd name="connsiteY3" fmla="*/ 235710 h 471418"/>
                <a:gd name="connsiteX4" fmla="*/ 235709 w 471418"/>
                <a:gd name="connsiteY4" fmla="*/ 235710 h 471418"/>
                <a:gd name="connsiteX5" fmla="*/ 235709 w 471418"/>
                <a:gd name="connsiteY5" fmla="*/ 0 h 471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1418" h="471418">
                  <a:moveTo>
                    <a:pt x="235709" y="0"/>
                  </a:moveTo>
                  <a:cubicBezTo>
                    <a:pt x="105527" y="0"/>
                    <a:pt x="0" y="105527"/>
                    <a:pt x="0" y="235710"/>
                  </a:cubicBezTo>
                  <a:cubicBezTo>
                    <a:pt x="0" y="365892"/>
                    <a:pt x="105527" y="471419"/>
                    <a:pt x="235709" y="471419"/>
                  </a:cubicBezTo>
                  <a:cubicBezTo>
                    <a:pt x="365892" y="471419"/>
                    <a:pt x="471419" y="365892"/>
                    <a:pt x="471419" y="235710"/>
                  </a:cubicBezTo>
                  <a:lnTo>
                    <a:pt x="235709" y="235710"/>
                  </a:lnTo>
                  <a:lnTo>
                    <a:pt x="235709" y="0"/>
                  </a:ln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  <p:sp>
          <p:nvSpPr>
            <p:cNvPr id="11" name="任意多边形: 形状 84">
              <a:extLst>
                <a:ext uri="{FF2B5EF4-FFF2-40B4-BE49-F238E27FC236}">
                  <a16:creationId xmlns:a16="http://schemas.microsoft.com/office/drawing/2014/main" id="{69781C49-983C-1EBB-814A-A2819F52B37C}"/>
                </a:ext>
              </a:extLst>
            </p:cNvPr>
            <p:cNvSpPr/>
            <p:nvPr/>
          </p:nvSpPr>
          <p:spPr>
            <a:xfrm>
              <a:off x="5255217" y="5690708"/>
              <a:ext cx="269999" cy="269999"/>
            </a:xfrm>
            <a:custGeom>
              <a:avLst/>
              <a:gdLst>
                <a:gd name="connsiteX0" fmla="*/ 269999 w 269999"/>
                <a:gd name="connsiteY0" fmla="*/ 269999 h 269999"/>
                <a:gd name="connsiteX1" fmla="*/ 0 w 269999"/>
                <a:gd name="connsiteY1" fmla="*/ 269999 h 269999"/>
                <a:gd name="connsiteX2" fmla="*/ 0 w 269999"/>
                <a:gd name="connsiteY2" fmla="*/ 0 h 269999"/>
                <a:gd name="connsiteX3" fmla="*/ 17145 w 269999"/>
                <a:gd name="connsiteY3" fmla="*/ 0 h 269999"/>
                <a:gd name="connsiteX4" fmla="*/ 269999 w 269999"/>
                <a:gd name="connsiteY4" fmla="*/ 252854 h 269999"/>
                <a:gd name="connsiteX5" fmla="*/ 269999 w 269999"/>
                <a:gd name="connsiteY5" fmla="*/ 269999 h 269999"/>
                <a:gd name="connsiteX6" fmla="*/ 34290 w 269999"/>
                <a:gd name="connsiteY6" fmla="*/ 235709 h 269999"/>
                <a:gd name="connsiteX7" fmla="*/ 235041 w 269999"/>
                <a:gd name="connsiteY7" fmla="*/ 235709 h 269999"/>
                <a:gd name="connsiteX8" fmla="*/ 34290 w 269999"/>
                <a:gd name="connsiteY8" fmla="*/ 34959 h 269999"/>
                <a:gd name="connsiteX9" fmla="*/ 34290 w 269999"/>
                <a:gd name="connsiteY9" fmla="*/ 235709 h 26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9999" h="269999">
                  <a:moveTo>
                    <a:pt x="269999" y="269999"/>
                  </a:moveTo>
                  <a:lnTo>
                    <a:pt x="0" y="269999"/>
                  </a:lnTo>
                  <a:lnTo>
                    <a:pt x="0" y="0"/>
                  </a:lnTo>
                  <a:lnTo>
                    <a:pt x="17145" y="0"/>
                  </a:lnTo>
                  <a:cubicBezTo>
                    <a:pt x="156568" y="0"/>
                    <a:pt x="269999" y="113431"/>
                    <a:pt x="269999" y="252854"/>
                  </a:cubicBezTo>
                  <a:lnTo>
                    <a:pt x="269999" y="269999"/>
                  </a:lnTo>
                  <a:close/>
                  <a:moveTo>
                    <a:pt x="34290" y="235709"/>
                  </a:moveTo>
                  <a:lnTo>
                    <a:pt x="235041" y="235709"/>
                  </a:lnTo>
                  <a:cubicBezTo>
                    <a:pt x="226708" y="128828"/>
                    <a:pt x="141172" y="43283"/>
                    <a:pt x="34290" y="34959"/>
                  </a:cubicBezTo>
                  <a:lnTo>
                    <a:pt x="34290" y="235709"/>
                  </a:ln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</p:grpSp>
      <p:grpSp>
        <p:nvGrpSpPr>
          <p:cNvPr id="12" name="图形 2">
            <a:extLst>
              <a:ext uri="{FF2B5EF4-FFF2-40B4-BE49-F238E27FC236}">
                <a16:creationId xmlns:a16="http://schemas.microsoft.com/office/drawing/2014/main" id="{C558AB45-2890-3634-3B1A-D6146C7EA106}"/>
              </a:ext>
            </a:extLst>
          </p:cNvPr>
          <p:cNvGrpSpPr/>
          <p:nvPr/>
        </p:nvGrpSpPr>
        <p:grpSpPr>
          <a:xfrm>
            <a:off x="10193500" y="3160419"/>
            <a:ext cx="1351090" cy="1323470"/>
            <a:chOff x="3032205" y="3825135"/>
            <a:chExt cx="962654" cy="942975"/>
          </a:xfrm>
          <a:solidFill>
            <a:srgbClr val="FFFFFF">
              <a:alpha val="34000"/>
            </a:srgbClr>
          </a:solidFill>
        </p:grpSpPr>
        <p:sp>
          <p:nvSpPr>
            <p:cNvPr id="13" name="任意多边形: 形状 86">
              <a:extLst>
                <a:ext uri="{FF2B5EF4-FFF2-40B4-BE49-F238E27FC236}">
                  <a16:creationId xmlns:a16="http://schemas.microsoft.com/office/drawing/2014/main" id="{3E2B7049-3B16-F4E1-B32C-9E91509A9344}"/>
                </a:ext>
              </a:extLst>
            </p:cNvPr>
            <p:cNvSpPr/>
            <p:nvPr/>
          </p:nvSpPr>
          <p:spPr>
            <a:xfrm>
              <a:off x="3032205" y="3825135"/>
              <a:ext cx="942975" cy="942975"/>
            </a:xfrm>
            <a:custGeom>
              <a:avLst/>
              <a:gdLst>
                <a:gd name="connsiteX0" fmla="*/ 921544 w 942975"/>
                <a:gd name="connsiteY0" fmla="*/ 942975 h 942975"/>
                <a:gd name="connsiteX1" fmla="*/ 21431 w 942975"/>
                <a:gd name="connsiteY1" fmla="*/ 942975 h 942975"/>
                <a:gd name="connsiteX2" fmla="*/ 0 w 942975"/>
                <a:gd name="connsiteY2" fmla="*/ 921544 h 942975"/>
                <a:gd name="connsiteX3" fmla="*/ 0 w 942975"/>
                <a:gd name="connsiteY3" fmla="*/ 21431 h 942975"/>
                <a:gd name="connsiteX4" fmla="*/ 21431 w 942975"/>
                <a:gd name="connsiteY4" fmla="*/ 0 h 942975"/>
                <a:gd name="connsiteX5" fmla="*/ 42863 w 942975"/>
                <a:gd name="connsiteY5" fmla="*/ 21431 h 942975"/>
                <a:gd name="connsiteX6" fmla="*/ 42863 w 942975"/>
                <a:gd name="connsiteY6" fmla="*/ 900113 h 942975"/>
                <a:gd name="connsiteX7" fmla="*/ 921544 w 942975"/>
                <a:gd name="connsiteY7" fmla="*/ 900113 h 942975"/>
                <a:gd name="connsiteX8" fmla="*/ 942975 w 942975"/>
                <a:gd name="connsiteY8" fmla="*/ 921544 h 942975"/>
                <a:gd name="connsiteX9" fmla="*/ 921544 w 942975"/>
                <a:gd name="connsiteY9" fmla="*/ 942975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2975" h="942975">
                  <a:moveTo>
                    <a:pt x="921544" y="942975"/>
                  </a:moveTo>
                  <a:lnTo>
                    <a:pt x="21431" y="942975"/>
                  </a:lnTo>
                  <a:cubicBezTo>
                    <a:pt x="9593" y="942975"/>
                    <a:pt x="0" y="933383"/>
                    <a:pt x="0" y="921544"/>
                  </a:cubicBezTo>
                  <a:lnTo>
                    <a:pt x="0" y="21431"/>
                  </a:lnTo>
                  <a:cubicBezTo>
                    <a:pt x="0" y="9593"/>
                    <a:pt x="9593" y="0"/>
                    <a:pt x="21431" y="0"/>
                  </a:cubicBezTo>
                  <a:cubicBezTo>
                    <a:pt x="33270" y="0"/>
                    <a:pt x="42863" y="9593"/>
                    <a:pt x="42863" y="21431"/>
                  </a:cubicBezTo>
                  <a:lnTo>
                    <a:pt x="42863" y="900113"/>
                  </a:lnTo>
                  <a:lnTo>
                    <a:pt x="921544" y="900113"/>
                  </a:lnTo>
                  <a:cubicBezTo>
                    <a:pt x="933382" y="900113"/>
                    <a:pt x="942975" y="909705"/>
                    <a:pt x="942975" y="921544"/>
                  </a:cubicBezTo>
                  <a:cubicBezTo>
                    <a:pt x="942975" y="933383"/>
                    <a:pt x="933382" y="942975"/>
                    <a:pt x="921544" y="942975"/>
                  </a:cubicBez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  <p:grpSp>
          <p:nvGrpSpPr>
            <p:cNvPr id="14" name="图形 2">
              <a:extLst>
                <a:ext uri="{FF2B5EF4-FFF2-40B4-BE49-F238E27FC236}">
                  <a16:creationId xmlns:a16="http://schemas.microsoft.com/office/drawing/2014/main" id="{AC9693A1-0A2A-224B-ED78-BB2BDAB8B627}"/>
                </a:ext>
              </a:extLst>
            </p:cNvPr>
            <p:cNvGrpSpPr/>
            <p:nvPr/>
          </p:nvGrpSpPr>
          <p:grpSpPr>
            <a:xfrm>
              <a:off x="3041583" y="3825822"/>
              <a:ext cx="953275" cy="561128"/>
              <a:chOff x="3041583" y="3825822"/>
              <a:chExt cx="953275" cy="561128"/>
            </a:xfrm>
            <a:grpFill/>
          </p:grpSpPr>
          <p:sp>
            <p:nvSpPr>
              <p:cNvPr id="19" name="任意多边形: 形状 92">
                <a:extLst>
                  <a:ext uri="{FF2B5EF4-FFF2-40B4-BE49-F238E27FC236}">
                    <a16:creationId xmlns:a16="http://schemas.microsoft.com/office/drawing/2014/main" id="{5CF5595B-2F79-D8E9-399E-1A32E6B781F8}"/>
                  </a:ext>
                </a:extLst>
              </p:cNvPr>
              <p:cNvSpPr/>
              <p:nvPr/>
            </p:nvSpPr>
            <p:spPr>
              <a:xfrm>
                <a:off x="3041583" y="3932643"/>
                <a:ext cx="856555" cy="454308"/>
              </a:xfrm>
              <a:custGeom>
                <a:avLst/>
                <a:gdLst>
                  <a:gd name="connsiteX0" fmla="*/ 24097 w 856555"/>
                  <a:gd name="connsiteY0" fmla="*/ 454308 h 454308"/>
                  <a:gd name="connsiteX1" fmla="*/ 0 w 856555"/>
                  <a:gd name="connsiteY1" fmla="*/ 418861 h 454308"/>
                  <a:gd name="connsiteX2" fmla="*/ 450476 w 856555"/>
                  <a:gd name="connsiteY2" fmla="*/ 112651 h 454308"/>
                  <a:gd name="connsiteX3" fmla="*/ 485761 w 856555"/>
                  <a:gd name="connsiteY3" fmla="*/ 110517 h 454308"/>
                  <a:gd name="connsiteX4" fmla="*/ 647138 w 856555"/>
                  <a:gd name="connsiteY4" fmla="*/ 193644 h 454308"/>
                  <a:gd name="connsiteX5" fmla="*/ 824983 w 856555"/>
                  <a:gd name="connsiteY5" fmla="*/ 0 h 454308"/>
                  <a:gd name="connsiteX6" fmla="*/ 856556 w 856555"/>
                  <a:gd name="connsiteY6" fmla="*/ 29001 h 454308"/>
                  <a:gd name="connsiteX7" fmla="*/ 674433 w 856555"/>
                  <a:gd name="connsiteY7" fmla="*/ 227300 h 454308"/>
                  <a:gd name="connsiteX8" fmla="*/ 633131 w 856555"/>
                  <a:gd name="connsiteY8" fmla="*/ 234638 h 454308"/>
                  <a:gd name="connsiteX9" fmla="*/ 470493 w 856555"/>
                  <a:gd name="connsiteY9" fmla="*/ 150867 h 454308"/>
                  <a:gd name="connsiteX10" fmla="*/ 24097 w 856555"/>
                  <a:gd name="connsiteY10" fmla="*/ 454308 h 454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56555" h="454308">
                    <a:moveTo>
                      <a:pt x="24097" y="454308"/>
                    </a:moveTo>
                    <a:lnTo>
                      <a:pt x="0" y="418861"/>
                    </a:lnTo>
                    <a:lnTo>
                      <a:pt x="450476" y="112651"/>
                    </a:lnTo>
                    <a:cubicBezTo>
                      <a:pt x="460969" y="105502"/>
                      <a:pt x="474496" y="104696"/>
                      <a:pt x="485761" y="110517"/>
                    </a:cubicBezTo>
                    <a:lnTo>
                      <a:pt x="647138" y="193644"/>
                    </a:lnTo>
                    <a:lnTo>
                      <a:pt x="824983" y="0"/>
                    </a:lnTo>
                    <a:lnTo>
                      <a:pt x="856556" y="29001"/>
                    </a:lnTo>
                    <a:lnTo>
                      <a:pt x="674433" y="227300"/>
                    </a:lnTo>
                    <a:cubicBezTo>
                      <a:pt x="663923" y="238753"/>
                      <a:pt x="646941" y="241770"/>
                      <a:pt x="633131" y="234638"/>
                    </a:cubicBezTo>
                    <a:lnTo>
                      <a:pt x="470493" y="150867"/>
                    </a:lnTo>
                    <a:lnTo>
                      <a:pt x="24097" y="454308"/>
                    </a:lnTo>
                    <a:close/>
                  </a:path>
                </a:pathLst>
              </a:custGeom>
              <a:grpFill/>
              <a:ln w="8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irmala UI"/>
                  <a:ea typeface="思源黑体 CN Normal"/>
                </a:endParaRPr>
              </a:p>
            </p:txBody>
          </p:sp>
          <p:sp>
            <p:nvSpPr>
              <p:cNvPr id="20" name="任意多边形: 形状 93">
                <a:extLst>
                  <a:ext uri="{FF2B5EF4-FFF2-40B4-BE49-F238E27FC236}">
                    <a16:creationId xmlns:a16="http://schemas.microsoft.com/office/drawing/2014/main" id="{50B61F36-EFCC-CB9E-FF32-C2AA83DE23E5}"/>
                  </a:ext>
                </a:extLst>
              </p:cNvPr>
              <p:cNvSpPr/>
              <p:nvPr/>
            </p:nvSpPr>
            <p:spPr>
              <a:xfrm>
                <a:off x="3782472" y="3825822"/>
                <a:ext cx="212387" cy="219175"/>
              </a:xfrm>
              <a:custGeom>
                <a:avLst/>
                <a:gdLst>
                  <a:gd name="connsiteX0" fmla="*/ 211533 w 212387"/>
                  <a:gd name="connsiteY0" fmla="*/ 17752 h 219175"/>
                  <a:gd name="connsiteX1" fmla="*/ 140047 w 212387"/>
                  <a:gd name="connsiteY1" fmla="*/ 210599 h 219175"/>
                  <a:gd name="connsiteX2" fmla="*/ 115178 w 212387"/>
                  <a:gd name="connsiteY2" fmla="*/ 209939 h 219175"/>
                  <a:gd name="connsiteX3" fmla="*/ 92976 w 212387"/>
                  <a:gd name="connsiteY3" fmla="*/ 138615 h 219175"/>
                  <a:gd name="connsiteX4" fmla="*/ 83254 w 212387"/>
                  <a:gd name="connsiteY4" fmla="*/ 129683 h 219175"/>
                  <a:gd name="connsiteX5" fmla="*/ 10320 w 212387"/>
                  <a:gd name="connsiteY5" fmla="*/ 113627 h 219175"/>
                  <a:gd name="connsiteX6" fmla="*/ 7551 w 212387"/>
                  <a:gd name="connsiteY6" fmla="*/ 88904 h 219175"/>
                  <a:gd name="connsiteX7" fmla="*/ 193617 w 212387"/>
                  <a:gd name="connsiteY7" fmla="*/ 1293 h 219175"/>
                  <a:gd name="connsiteX8" fmla="*/ 211533 w 212387"/>
                  <a:gd name="connsiteY8" fmla="*/ 17752 h 219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2387" h="219175">
                    <a:moveTo>
                      <a:pt x="211533" y="17752"/>
                    </a:moveTo>
                    <a:lnTo>
                      <a:pt x="140047" y="210599"/>
                    </a:lnTo>
                    <a:cubicBezTo>
                      <a:pt x="135692" y="222360"/>
                      <a:pt x="118907" y="221915"/>
                      <a:pt x="115178" y="209939"/>
                    </a:cubicBezTo>
                    <a:lnTo>
                      <a:pt x="92976" y="138615"/>
                    </a:lnTo>
                    <a:cubicBezTo>
                      <a:pt x="91570" y="134106"/>
                      <a:pt x="87866" y="130703"/>
                      <a:pt x="83254" y="129683"/>
                    </a:cubicBezTo>
                    <a:lnTo>
                      <a:pt x="10320" y="113627"/>
                    </a:lnTo>
                    <a:cubicBezTo>
                      <a:pt x="-1930" y="110935"/>
                      <a:pt x="-3799" y="94244"/>
                      <a:pt x="7551" y="88904"/>
                    </a:cubicBezTo>
                    <a:lnTo>
                      <a:pt x="193617" y="1293"/>
                    </a:lnTo>
                    <a:cubicBezTo>
                      <a:pt x="204264" y="-3722"/>
                      <a:pt x="215622" y="6719"/>
                      <a:pt x="211533" y="17752"/>
                    </a:cubicBezTo>
                    <a:close/>
                  </a:path>
                </a:pathLst>
              </a:custGeom>
              <a:grpFill/>
              <a:ln w="8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irmala UI"/>
                  <a:ea typeface="思源黑体 CN Normal"/>
                </a:endParaRPr>
              </a:p>
            </p:txBody>
          </p:sp>
        </p:grpSp>
        <p:sp>
          <p:nvSpPr>
            <p:cNvPr id="15" name="任意多边形: 形状 88">
              <a:extLst>
                <a:ext uri="{FF2B5EF4-FFF2-40B4-BE49-F238E27FC236}">
                  <a16:creationId xmlns:a16="http://schemas.microsoft.com/office/drawing/2014/main" id="{C44A5FE5-B4DF-487A-994E-EA340854BEA0}"/>
                </a:ext>
              </a:extLst>
            </p:cNvPr>
            <p:cNvSpPr/>
            <p:nvPr/>
          </p:nvSpPr>
          <p:spPr>
            <a:xfrm>
              <a:off x="3170531" y="4323060"/>
              <a:ext cx="120537" cy="330109"/>
            </a:xfrm>
            <a:custGeom>
              <a:avLst/>
              <a:gdLst>
                <a:gd name="connsiteX0" fmla="*/ 0 w 120537"/>
                <a:gd name="connsiteY0" fmla="*/ 81936 h 330109"/>
                <a:gd name="connsiteX1" fmla="*/ 0 w 120537"/>
                <a:gd name="connsiteY1" fmla="*/ 330110 h 330109"/>
                <a:gd name="connsiteX2" fmla="*/ 120538 w 120537"/>
                <a:gd name="connsiteY2" fmla="*/ 330110 h 330109"/>
                <a:gd name="connsiteX3" fmla="*/ 120538 w 120537"/>
                <a:gd name="connsiteY3" fmla="*/ 0 h 330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537" h="330109">
                  <a:moveTo>
                    <a:pt x="0" y="81936"/>
                  </a:moveTo>
                  <a:lnTo>
                    <a:pt x="0" y="330110"/>
                  </a:lnTo>
                  <a:lnTo>
                    <a:pt x="120538" y="330110"/>
                  </a:lnTo>
                  <a:lnTo>
                    <a:pt x="120538" y="0"/>
                  </a:ln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  <p:sp>
          <p:nvSpPr>
            <p:cNvPr id="16" name="任意多边形: 形状 89">
              <a:extLst>
                <a:ext uri="{FF2B5EF4-FFF2-40B4-BE49-F238E27FC236}">
                  <a16:creationId xmlns:a16="http://schemas.microsoft.com/office/drawing/2014/main" id="{2FDBB513-A500-9B5D-1A42-9A6DC31FC49C}"/>
                </a:ext>
              </a:extLst>
            </p:cNvPr>
            <p:cNvSpPr/>
            <p:nvPr/>
          </p:nvSpPr>
          <p:spPr>
            <a:xfrm>
              <a:off x="3353417" y="4198750"/>
              <a:ext cx="120537" cy="454419"/>
            </a:xfrm>
            <a:custGeom>
              <a:avLst/>
              <a:gdLst>
                <a:gd name="connsiteX0" fmla="*/ 0 w 120537"/>
                <a:gd name="connsiteY0" fmla="*/ 81936 h 454419"/>
                <a:gd name="connsiteX1" fmla="*/ 0 w 120537"/>
                <a:gd name="connsiteY1" fmla="*/ 454420 h 454419"/>
                <a:gd name="connsiteX2" fmla="*/ 120538 w 120537"/>
                <a:gd name="connsiteY2" fmla="*/ 454420 h 454419"/>
                <a:gd name="connsiteX3" fmla="*/ 120538 w 120537"/>
                <a:gd name="connsiteY3" fmla="*/ 0 h 45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537" h="454419">
                  <a:moveTo>
                    <a:pt x="0" y="81936"/>
                  </a:moveTo>
                  <a:lnTo>
                    <a:pt x="0" y="454420"/>
                  </a:lnTo>
                  <a:lnTo>
                    <a:pt x="120538" y="454420"/>
                  </a:lnTo>
                  <a:lnTo>
                    <a:pt x="120538" y="0"/>
                  </a:ln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  <p:sp>
          <p:nvSpPr>
            <p:cNvPr id="17" name="任意多边形: 形状 90">
              <a:extLst>
                <a:ext uri="{FF2B5EF4-FFF2-40B4-BE49-F238E27FC236}">
                  <a16:creationId xmlns:a16="http://schemas.microsoft.com/office/drawing/2014/main" id="{89096549-D9A3-1AA7-EAFC-4C71AD69518C}"/>
                </a:ext>
              </a:extLst>
            </p:cNvPr>
            <p:cNvSpPr/>
            <p:nvPr/>
          </p:nvSpPr>
          <p:spPr>
            <a:xfrm>
              <a:off x="3536294" y="4183851"/>
              <a:ext cx="120537" cy="469318"/>
            </a:xfrm>
            <a:custGeom>
              <a:avLst/>
              <a:gdLst>
                <a:gd name="connsiteX0" fmla="*/ 0 w 120537"/>
                <a:gd name="connsiteY0" fmla="*/ 0 h 469318"/>
                <a:gd name="connsiteX1" fmla="*/ 0 w 120537"/>
                <a:gd name="connsiteY1" fmla="*/ 469319 h 469318"/>
                <a:gd name="connsiteX2" fmla="*/ 120538 w 120537"/>
                <a:gd name="connsiteY2" fmla="*/ 469319 h 469318"/>
                <a:gd name="connsiteX3" fmla="*/ 120538 w 120537"/>
                <a:gd name="connsiteY3" fmla="*/ 62091 h 469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537" h="469318">
                  <a:moveTo>
                    <a:pt x="0" y="0"/>
                  </a:moveTo>
                  <a:lnTo>
                    <a:pt x="0" y="469319"/>
                  </a:lnTo>
                  <a:lnTo>
                    <a:pt x="120538" y="469319"/>
                  </a:lnTo>
                  <a:lnTo>
                    <a:pt x="120538" y="62091"/>
                  </a:ln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  <p:sp>
          <p:nvSpPr>
            <p:cNvPr id="18" name="任意多边形: 形状 91">
              <a:extLst>
                <a:ext uri="{FF2B5EF4-FFF2-40B4-BE49-F238E27FC236}">
                  <a16:creationId xmlns:a16="http://schemas.microsoft.com/office/drawing/2014/main" id="{D69526E3-7145-418A-2F57-FEC69E53E5FE}"/>
                </a:ext>
              </a:extLst>
            </p:cNvPr>
            <p:cNvSpPr/>
            <p:nvPr/>
          </p:nvSpPr>
          <p:spPr>
            <a:xfrm>
              <a:off x="3719171" y="4119197"/>
              <a:ext cx="120537" cy="533972"/>
            </a:xfrm>
            <a:custGeom>
              <a:avLst/>
              <a:gdLst>
                <a:gd name="connsiteX0" fmla="*/ 0 w 120537"/>
                <a:gd name="connsiteY0" fmla="*/ 131245 h 533972"/>
                <a:gd name="connsiteX1" fmla="*/ 0 w 120537"/>
                <a:gd name="connsiteY1" fmla="*/ 533972 h 533972"/>
                <a:gd name="connsiteX2" fmla="*/ 120538 w 120537"/>
                <a:gd name="connsiteY2" fmla="*/ 533972 h 533972"/>
                <a:gd name="connsiteX3" fmla="*/ 120538 w 120537"/>
                <a:gd name="connsiteY3" fmla="*/ 0 h 53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537" h="533972">
                  <a:moveTo>
                    <a:pt x="0" y="131245"/>
                  </a:moveTo>
                  <a:lnTo>
                    <a:pt x="0" y="533972"/>
                  </a:lnTo>
                  <a:lnTo>
                    <a:pt x="120538" y="533972"/>
                  </a:lnTo>
                  <a:lnTo>
                    <a:pt x="120538" y="0"/>
                  </a:lnTo>
                  <a:close/>
                </a:path>
              </a:pathLst>
            </a:custGeom>
            <a:grpFill/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rmala UI"/>
                <a:ea typeface="思源黑体 CN Normal"/>
              </a:endParaRPr>
            </a:p>
          </p:txBody>
        </p:sp>
      </p:grpSp>
      <p:sp>
        <p:nvSpPr>
          <p:cNvPr id="21" name="gaoding-23">
            <a:extLst>
              <a:ext uri="{FF2B5EF4-FFF2-40B4-BE49-F238E27FC236}">
                <a16:creationId xmlns:a16="http://schemas.microsoft.com/office/drawing/2014/main" id="{09B52EE8-F7E7-0699-1DB1-CAC8F824FBA9}"/>
              </a:ext>
            </a:extLst>
          </p:cNvPr>
          <p:cNvSpPr/>
          <p:nvPr/>
        </p:nvSpPr>
        <p:spPr>
          <a:xfrm>
            <a:off x="1121834" y="1060920"/>
            <a:ext cx="4503543" cy="5609106"/>
          </a:xfrm>
          <a:prstGeom prst="roundRect">
            <a:avLst>
              <a:gd name="adj" fmla="val 5359"/>
            </a:avLst>
          </a:prstGeom>
          <a:solidFill>
            <a:srgbClr val="4B77F4">
              <a:lumMod val="20000"/>
              <a:lumOff val="80000"/>
              <a:alpha val="43000"/>
            </a:srgbClr>
          </a:solidFill>
          <a:ln w="6350" cap="flat" cmpd="sng" algn="ctr">
            <a:solidFill>
              <a:srgbClr val="4B77F4">
                <a:lumMod val="10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22" name="gaoding-26">
            <a:extLst>
              <a:ext uri="{FF2B5EF4-FFF2-40B4-BE49-F238E27FC236}">
                <a16:creationId xmlns:a16="http://schemas.microsoft.com/office/drawing/2014/main" id="{16E880C6-F528-9454-99E9-6F1DD9BD6176}"/>
              </a:ext>
            </a:extLst>
          </p:cNvPr>
          <p:cNvSpPr/>
          <p:nvPr/>
        </p:nvSpPr>
        <p:spPr>
          <a:xfrm>
            <a:off x="1383081" y="3536339"/>
            <a:ext cx="3992674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23" name="gaoding-27">
            <a:extLst>
              <a:ext uri="{FF2B5EF4-FFF2-40B4-BE49-F238E27FC236}">
                <a16:creationId xmlns:a16="http://schemas.microsoft.com/office/drawing/2014/main" id="{883409C9-EF0D-6EC4-135B-923BE59876A1}"/>
              </a:ext>
            </a:extLst>
          </p:cNvPr>
          <p:cNvSpPr/>
          <p:nvPr/>
        </p:nvSpPr>
        <p:spPr>
          <a:xfrm>
            <a:off x="1383081" y="4311264"/>
            <a:ext cx="3992674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24" name="gaoding-28">
            <a:extLst>
              <a:ext uri="{FF2B5EF4-FFF2-40B4-BE49-F238E27FC236}">
                <a16:creationId xmlns:a16="http://schemas.microsoft.com/office/drawing/2014/main" id="{083B85C7-3A56-CD86-A962-E697F4E08E88}"/>
              </a:ext>
            </a:extLst>
          </p:cNvPr>
          <p:cNvSpPr/>
          <p:nvPr/>
        </p:nvSpPr>
        <p:spPr>
          <a:xfrm>
            <a:off x="1383081" y="5086189"/>
            <a:ext cx="3992674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27" name="gaoding-26">
            <a:extLst>
              <a:ext uri="{FF2B5EF4-FFF2-40B4-BE49-F238E27FC236}">
                <a16:creationId xmlns:a16="http://schemas.microsoft.com/office/drawing/2014/main" id="{111533A2-8A4D-9302-42FC-828663B5E0C1}"/>
              </a:ext>
            </a:extLst>
          </p:cNvPr>
          <p:cNvSpPr/>
          <p:nvPr/>
        </p:nvSpPr>
        <p:spPr>
          <a:xfrm>
            <a:off x="1383081" y="2761414"/>
            <a:ext cx="3992674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28" name="gaoding-26">
            <a:extLst>
              <a:ext uri="{FF2B5EF4-FFF2-40B4-BE49-F238E27FC236}">
                <a16:creationId xmlns:a16="http://schemas.microsoft.com/office/drawing/2014/main" id="{5F0C4A1B-6263-7B25-BA91-5A071B9B507C}"/>
              </a:ext>
            </a:extLst>
          </p:cNvPr>
          <p:cNvSpPr/>
          <p:nvPr/>
        </p:nvSpPr>
        <p:spPr>
          <a:xfrm>
            <a:off x="1383081" y="1986489"/>
            <a:ext cx="3992674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29" name="gaoding-26">
            <a:extLst>
              <a:ext uri="{FF2B5EF4-FFF2-40B4-BE49-F238E27FC236}">
                <a16:creationId xmlns:a16="http://schemas.microsoft.com/office/drawing/2014/main" id="{E6310019-EA00-C955-8D64-B3623CCB11C8}"/>
              </a:ext>
            </a:extLst>
          </p:cNvPr>
          <p:cNvSpPr/>
          <p:nvPr/>
        </p:nvSpPr>
        <p:spPr>
          <a:xfrm>
            <a:off x="1383081" y="1206061"/>
            <a:ext cx="3992674" cy="625568"/>
          </a:xfrm>
          <a:prstGeom prst="roundRect">
            <a:avLst>
              <a:gd name="adj" fmla="val 9771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65100" dist="38100" dir="2700000" algn="tl" rotWithShape="0">
              <a:srgbClr val="4B77F4">
                <a:alpha val="7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42" name="稿定-9">
            <a:extLst>
              <a:ext uri="{FF2B5EF4-FFF2-40B4-BE49-F238E27FC236}">
                <a16:creationId xmlns:a16="http://schemas.microsoft.com/office/drawing/2014/main" id="{9B47F251-D0CF-23F4-B381-5F43EA3870E7}"/>
              </a:ext>
            </a:extLst>
          </p:cNvPr>
          <p:cNvSpPr/>
          <p:nvPr/>
        </p:nvSpPr>
        <p:spPr>
          <a:xfrm flipH="1">
            <a:off x="1383078" y="1375558"/>
            <a:ext cx="3992673" cy="30444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pitchFamily="18" charset="-122"/>
                <a:sym typeface="阿里巴巴普惠体 2 45 Light" panose="00020600040101010101" pitchFamily="18" charset="-122"/>
              </a:rPr>
              <a:t>待命名</a:t>
            </a:r>
            <a:endParaRPr lang="en-US" dirty="0">
              <a:solidFill>
                <a:srgbClr val="FFFFF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43" name="稿定-9">
            <a:extLst>
              <a:ext uri="{FF2B5EF4-FFF2-40B4-BE49-F238E27FC236}">
                <a16:creationId xmlns:a16="http://schemas.microsoft.com/office/drawing/2014/main" id="{B67605A4-5A36-E87A-C9BC-DF5DB0032147}"/>
              </a:ext>
            </a:extLst>
          </p:cNvPr>
          <p:cNvSpPr/>
          <p:nvPr/>
        </p:nvSpPr>
        <p:spPr>
          <a:xfrm flipH="1">
            <a:off x="1549137" y="2146552"/>
            <a:ext cx="3482610" cy="315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｜卡片一：项目启动会</a:t>
            </a:r>
          </a:p>
        </p:txBody>
      </p:sp>
      <p:sp>
        <p:nvSpPr>
          <p:cNvPr id="45" name="稿定-9">
            <a:extLst>
              <a:ext uri="{FF2B5EF4-FFF2-40B4-BE49-F238E27FC236}">
                <a16:creationId xmlns:a16="http://schemas.microsoft.com/office/drawing/2014/main" id="{392A217D-7A33-9D40-ED09-DD01CD0C1AEB}"/>
              </a:ext>
            </a:extLst>
          </p:cNvPr>
          <p:cNvSpPr/>
          <p:nvPr/>
        </p:nvSpPr>
        <p:spPr>
          <a:xfrm flipH="1">
            <a:off x="1549136" y="3009062"/>
            <a:ext cx="348261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｜卡片二：周例会（站会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/</a:t>
            </a: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进度同步会）</a:t>
            </a:r>
          </a:p>
        </p:txBody>
      </p:sp>
      <p:sp>
        <p:nvSpPr>
          <p:cNvPr id="47" name="稿定-9">
            <a:extLst>
              <a:ext uri="{FF2B5EF4-FFF2-40B4-BE49-F238E27FC236}">
                <a16:creationId xmlns:a16="http://schemas.microsoft.com/office/drawing/2014/main" id="{2E3BE4FE-EBFC-E979-0D08-B988409BE903}"/>
              </a:ext>
            </a:extLst>
          </p:cNvPr>
          <p:cNvSpPr/>
          <p:nvPr/>
        </p:nvSpPr>
        <p:spPr>
          <a:xfrm flipH="1">
            <a:off x="1549135" y="3675402"/>
            <a:ext cx="3482609" cy="315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｜卡片三：项目复盘会</a:t>
            </a:r>
          </a:p>
        </p:txBody>
      </p:sp>
      <p:sp>
        <p:nvSpPr>
          <p:cNvPr id="49" name="稿定-9">
            <a:extLst>
              <a:ext uri="{FF2B5EF4-FFF2-40B4-BE49-F238E27FC236}">
                <a16:creationId xmlns:a16="http://schemas.microsoft.com/office/drawing/2014/main" id="{65AC6F7A-3B3C-9EA7-97B7-45009266C80C}"/>
              </a:ext>
            </a:extLst>
          </p:cNvPr>
          <p:cNvSpPr/>
          <p:nvPr/>
        </p:nvSpPr>
        <p:spPr>
          <a:xfrm flipH="1">
            <a:off x="1549135" y="4461040"/>
            <a:ext cx="3594885" cy="315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｜卡片四：决策会（提案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/</a:t>
            </a: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审批会）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A6EE889-5B23-0310-1041-82B5FA9242F3}"/>
              </a:ext>
            </a:extLst>
          </p:cNvPr>
          <p:cNvSpPr/>
          <p:nvPr/>
        </p:nvSpPr>
        <p:spPr>
          <a:xfrm>
            <a:off x="650154" y="221540"/>
            <a:ext cx="3879100" cy="68107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B" pitchFamily="18" charset="-122"/>
                <a:ea typeface="OPPOSans B" pitchFamily="18" charset="-122"/>
                <a:cs typeface="OPPOSans B" pitchFamily="18" charset="-122"/>
                <a:sym typeface="阿里巴巴普惠体 2 45 Light" panose="00020600040101010101" pitchFamily="18" charset="-122"/>
              </a:rPr>
              <a:t>目录｜知识卡片</a:t>
            </a:r>
          </a:p>
        </p:txBody>
      </p:sp>
      <p:sp>
        <p:nvSpPr>
          <p:cNvPr id="80" name="稿定-9">
            <a:extLst>
              <a:ext uri="{FF2B5EF4-FFF2-40B4-BE49-F238E27FC236}">
                <a16:creationId xmlns:a16="http://schemas.microsoft.com/office/drawing/2014/main" id="{A81DFD23-EF02-7E75-B51C-0A2713DCFE18}"/>
              </a:ext>
            </a:extLst>
          </p:cNvPr>
          <p:cNvSpPr/>
          <p:nvPr/>
        </p:nvSpPr>
        <p:spPr>
          <a:xfrm flipH="1">
            <a:off x="1549136" y="5256589"/>
            <a:ext cx="3826619" cy="315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｜卡片五：头脑风暴会（创意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/</a:t>
            </a: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方案生成）</a:t>
            </a:r>
          </a:p>
        </p:txBody>
      </p:sp>
      <p:sp>
        <p:nvSpPr>
          <p:cNvPr id="81" name="gaoding-28">
            <a:extLst>
              <a:ext uri="{FF2B5EF4-FFF2-40B4-BE49-F238E27FC236}">
                <a16:creationId xmlns:a16="http://schemas.microsoft.com/office/drawing/2014/main" id="{E6BB101E-74C3-200D-5805-A7B3F12B83F7}"/>
              </a:ext>
            </a:extLst>
          </p:cNvPr>
          <p:cNvSpPr/>
          <p:nvPr/>
        </p:nvSpPr>
        <p:spPr>
          <a:xfrm>
            <a:off x="1360832" y="5861116"/>
            <a:ext cx="3992674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82" name="稿定-9">
            <a:extLst>
              <a:ext uri="{FF2B5EF4-FFF2-40B4-BE49-F238E27FC236}">
                <a16:creationId xmlns:a16="http://schemas.microsoft.com/office/drawing/2014/main" id="{E959A627-B663-55A8-0992-FAE0CD04CC5B}"/>
              </a:ext>
            </a:extLst>
          </p:cNvPr>
          <p:cNvSpPr/>
          <p:nvPr/>
        </p:nvSpPr>
        <p:spPr>
          <a:xfrm flipH="1">
            <a:off x="1506274" y="6028114"/>
            <a:ext cx="3826619" cy="315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｜卡片六：一对一沟通（绩效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/</a:t>
            </a: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成长面谈）</a:t>
            </a:r>
          </a:p>
        </p:txBody>
      </p:sp>
      <p:sp>
        <p:nvSpPr>
          <p:cNvPr id="83" name="gaoding-23">
            <a:extLst>
              <a:ext uri="{FF2B5EF4-FFF2-40B4-BE49-F238E27FC236}">
                <a16:creationId xmlns:a16="http://schemas.microsoft.com/office/drawing/2014/main" id="{87D8188A-84FC-DCBE-B986-FCD7B7832CDF}"/>
              </a:ext>
            </a:extLst>
          </p:cNvPr>
          <p:cNvSpPr/>
          <p:nvPr/>
        </p:nvSpPr>
        <p:spPr>
          <a:xfrm>
            <a:off x="6654116" y="1060920"/>
            <a:ext cx="4503543" cy="5609106"/>
          </a:xfrm>
          <a:prstGeom prst="roundRect">
            <a:avLst>
              <a:gd name="adj" fmla="val 5359"/>
            </a:avLst>
          </a:prstGeom>
          <a:solidFill>
            <a:srgbClr val="4B77F4">
              <a:lumMod val="20000"/>
              <a:lumOff val="80000"/>
              <a:alpha val="43000"/>
            </a:srgbClr>
          </a:solidFill>
          <a:ln w="6350" cap="flat" cmpd="sng" algn="ctr">
            <a:solidFill>
              <a:srgbClr val="4B77F4">
                <a:lumMod val="10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84" name="gaoding-26">
            <a:extLst>
              <a:ext uri="{FF2B5EF4-FFF2-40B4-BE49-F238E27FC236}">
                <a16:creationId xmlns:a16="http://schemas.microsoft.com/office/drawing/2014/main" id="{5A52BB3E-5071-08EF-2ED8-FE733F788E66}"/>
              </a:ext>
            </a:extLst>
          </p:cNvPr>
          <p:cNvSpPr/>
          <p:nvPr/>
        </p:nvSpPr>
        <p:spPr>
          <a:xfrm>
            <a:off x="6915362" y="3536339"/>
            <a:ext cx="3985629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85" name="gaoding-27">
            <a:extLst>
              <a:ext uri="{FF2B5EF4-FFF2-40B4-BE49-F238E27FC236}">
                <a16:creationId xmlns:a16="http://schemas.microsoft.com/office/drawing/2014/main" id="{2C9AD5F2-9C5C-2815-4B7E-023D097C93B5}"/>
              </a:ext>
            </a:extLst>
          </p:cNvPr>
          <p:cNvSpPr/>
          <p:nvPr/>
        </p:nvSpPr>
        <p:spPr>
          <a:xfrm>
            <a:off x="6915362" y="4311264"/>
            <a:ext cx="3985629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86" name="gaoding-28">
            <a:extLst>
              <a:ext uri="{FF2B5EF4-FFF2-40B4-BE49-F238E27FC236}">
                <a16:creationId xmlns:a16="http://schemas.microsoft.com/office/drawing/2014/main" id="{55C246A9-17A3-FA60-1FF7-3DCE8E5313DA}"/>
              </a:ext>
            </a:extLst>
          </p:cNvPr>
          <p:cNvSpPr/>
          <p:nvPr/>
        </p:nvSpPr>
        <p:spPr>
          <a:xfrm>
            <a:off x="6915362" y="5086189"/>
            <a:ext cx="3985629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87" name="gaoding-26">
            <a:extLst>
              <a:ext uri="{FF2B5EF4-FFF2-40B4-BE49-F238E27FC236}">
                <a16:creationId xmlns:a16="http://schemas.microsoft.com/office/drawing/2014/main" id="{F383A0D1-440C-E28A-7BDA-9B42982235F3}"/>
              </a:ext>
            </a:extLst>
          </p:cNvPr>
          <p:cNvSpPr/>
          <p:nvPr/>
        </p:nvSpPr>
        <p:spPr>
          <a:xfrm>
            <a:off x="6915362" y="2761414"/>
            <a:ext cx="3985629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88" name="gaoding-26">
            <a:extLst>
              <a:ext uri="{FF2B5EF4-FFF2-40B4-BE49-F238E27FC236}">
                <a16:creationId xmlns:a16="http://schemas.microsoft.com/office/drawing/2014/main" id="{B642D0B1-9864-15B7-1095-14933AC20242}"/>
              </a:ext>
            </a:extLst>
          </p:cNvPr>
          <p:cNvSpPr/>
          <p:nvPr/>
        </p:nvSpPr>
        <p:spPr>
          <a:xfrm>
            <a:off x="6915362" y="1986489"/>
            <a:ext cx="3985629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89" name="gaoding-26">
            <a:extLst>
              <a:ext uri="{FF2B5EF4-FFF2-40B4-BE49-F238E27FC236}">
                <a16:creationId xmlns:a16="http://schemas.microsoft.com/office/drawing/2014/main" id="{FBB7E732-D72D-2834-9D67-D7C0B2D2F9DE}"/>
              </a:ext>
            </a:extLst>
          </p:cNvPr>
          <p:cNvSpPr/>
          <p:nvPr/>
        </p:nvSpPr>
        <p:spPr>
          <a:xfrm>
            <a:off x="6915362" y="1206061"/>
            <a:ext cx="3985629" cy="625568"/>
          </a:xfrm>
          <a:prstGeom prst="roundRect">
            <a:avLst>
              <a:gd name="adj" fmla="val 9771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65100" dist="38100" dir="2700000" algn="tl" rotWithShape="0">
              <a:srgbClr val="4B77F4">
                <a:alpha val="7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90" name="稿定-9">
            <a:extLst>
              <a:ext uri="{FF2B5EF4-FFF2-40B4-BE49-F238E27FC236}">
                <a16:creationId xmlns:a16="http://schemas.microsoft.com/office/drawing/2014/main" id="{793350CB-E1D9-7380-D230-215DD070B566}"/>
              </a:ext>
            </a:extLst>
          </p:cNvPr>
          <p:cNvSpPr/>
          <p:nvPr/>
        </p:nvSpPr>
        <p:spPr>
          <a:xfrm flipH="1">
            <a:off x="6915360" y="1375558"/>
            <a:ext cx="3963381" cy="30444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pitchFamily="18" charset="-122"/>
                <a:sym typeface="阿里巴巴普惠体 2 45 Light" panose="00020600040101010101" pitchFamily="18" charset="-122"/>
              </a:rPr>
              <a:t>待命名</a:t>
            </a:r>
            <a:endParaRPr lang="en-US" dirty="0">
              <a:solidFill>
                <a:srgbClr val="FFFFFF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91" name="稿定-9">
            <a:extLst>
              <a:ext uri="{FF2B5EF4-FFF2-40B4-BE49-F238E27FC236}">
                <a16:creationId xmlns:a16="http://schemas.microsoft.com/office/drawing/2014/main" id="{59D324A1-5005-5D58-860B-B736C91FC72D}"/>
              </a:ext>
            </a:extLst>
          </p:cNvPr>
          <p:cNvSpPr/>
          <p:nvPr/>
        </p:nvSpPr>
        <p:spPr>
          <a:xfrm flipH="1">
            <a:off x="7081419" y="2148810"/>
            <a:ext cx="3577800" cy="315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｜卡片七：信息同步会（全员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/</a:t>
            </a: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大范围）</a:t>
            </a:r>
          </a:p>
        </p:txBody>
      </p:sp>
      <p:sp>
        <p:nvSpPr>
          <p:cNvPr id="92" name="稿定-9">
            <a:extLst>
              <a:ext uri="{FF2B5EF4-FFF2-40B4-BE49-F238E27FC236}">
                <a16:creationId xmlns:a16="http://schemas.microsoft.com/office/drawing/2014/main" id="{9CB489E9-1479-9C0B-93F4-8E7591B4EDF2}"/>
              </a:ext>
            </a:extLst>
          </p:cNvPr>
          <p:cNvSpPr/>
          <p:nvPr/>
        </p:nvSpPr>
        <p:spPr>
          <a:xfrm flipH="1">
            <a:off x="7081417" y="3011320"/>
            <a:ext cx="3475397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｜卡片八：专家入库评审会</a:t>
            </a:r>
          </a:p>
        </p:txBody>
      </p:sp>
      <p:sp>
        <p:nvSpPr>
          <p:cNvPr id="93" name="稿定-9">
            <a:extLst>
              <a:ext uri="{FF2B5EF4-FFF2-40B4-BE49-F238E27FC236}">
                <a16:creationId xmlns:a16="http://schemas.microsoft.com/office/drawing/2014/main" id="{B1A37EF4-F5AC-D24B-5FDF-6F3FCF3B99C6}"/>
              </a:ext>
            </a:extLst>
          </p:cNvPr>
          <p:cNvSpPr/>
          <p:nvPr/>
        </p:nvSpPr>
        <p:spPr>
          <a:xfrm flipH="1">
            <a:off x="7081417" y="3677660"/>
            <a:ext cx="3475396" cy="315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｜卡片九：事业合伙人招募说明会</a:t>
            </a:r>
          </a:p>
        </p:txBody>
      </p:sp>
      <p:sp>
        <p:nvSpPr>
          <p:cNvPr id="94" name="稿定-9">
            <a:extLst>
              <a:ext uri="{FF2B5EF4-FFF2-40B4-BE49-F238E27FC236}">
                <a16:creationId xmlns:a16="http://schemas.microsoft.com/office/drawing/2014/main" id="{3A3B1F35-7B0D-04BB-B9E2-D91FAF521641}"/>
              </a:ext>
            </a:extLst>
          </p:cNvPr>
          <p:cNvSpPr/>
          <p:nvPr/>
        </p:nvSpPr>
        <p:spPr>
          <a:xfrm flipH="1">
            <a:off x="7081417" y="4463298"/>
            <a:ext cx="3587439" cy="315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｜卡片十：网格法合伙人</a:t>
            </a:r>
          </a:p>
        </p:txBody>
      </p:sp>
      <p:sp>
        <p:nvSpPr>
          <p:cNvPr id="96" name="gaoding-28">
            <a:extLst>
              <a:ext uri="{FF2B5EF4-FFF2-40B4-BE49-F238E27FC236}">
                <a16:creationId xmlns:a16="http://schemas.microsoft.com/office/drawing/2014/main" id="{D69B6416-FF7D-6565-099C-6B13E36D7640}"/>
              </a:ext>
            </a:extLst>
          </p:cNvPr>
          <p:cNvSpPr/>
          <p:nvPr/>
        </p:nvSpPr>
        <p:spPr>
          <a:xfrm>
            <a:off x="6915362" y="5861116"/>
            <a:ext cx="3985629" cy="625568"/>
          </a:xfrm>
          <a:prstGeom prst="roundRect">
            <a:avLst>
              <a:gd name="adj" fmla="val 9771"/>
            </a:avLst>
          </a:prstGeom>
          <a:solidFill>
            <a:srgbClr val="FFFFFF"/>
          </a:solidFill>
          <a:ln w="6350">
            <a:solidFill>
              <a:srgbClr val="4B77F4">
                <a:lumMod val="100000"/>
              </a:srgbClr>
            </a:solidFill>
            <a:prstDash val="sysDash"/>
          </a:ln>
          <a:effectLst>
            <a:outerShdw blurRad="381000" sx="103000" sy="103000" algn="ctr" rotWithShape="0">
              <a:srgbClr val="4B77F4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2254F4"/>
                  </a:gs>
                  <a:gs pos="100000">
                    <a:srgbClr val="2254F4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effectLst/>
              <a:uLnTx/>
              <a:uFillTx/>
              <a:latin typeface="阿里巴巴普惠体 2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阿里巴巴普惠体 2 45 Light" panose="00020600040101010101" pitchFamily="18" charset="-122"/>
            </a:endParaRPr>
          </a:p>
        </p:txBody>
      </p:sp>
      <p:sp>
        <p:nvSpPr>
          <p:cNvPr id="2" name="稿定-9">
            <a:extLst>
              <a:ext uri="{FF2B5EF4-FFF2-40B4-BE49-F238E27FC236}">
                <a16:creationId xmlns:a16="http://schemas.microsoft.com/office/drawing/2014/main" id="{AA5A3E1F-5991-5A09-F87A-34A60B54AE38}"/>
              </a:ext>
            </a:extLst>
          </p:cNvPr>
          <p:cNvSpPr/>
          <p:nvPr/>
        </p:nvSpPr>
        <p:spPr>
          <a:xfrm flipH="1">
            <a:off x="7076599" y="5256589"/>
            <a:ext cx="3587439" cy="315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  <a:sym typeface="阿里巴巴普惠体 2 45 Light" panose="00020600040101010101" pitchFamily="18" charset="-122"/>
              </a:rPr>
              <a:t>｜卡片十一：产品介绍与推销会</a:t>
            </a:r>
          </a:p>
        </p:txBody>
      </p:sp>
    </p:spTree>
    <p:extLst>
      <p:ext uri="{BB962C8B-B14F-4D97-AF65-F5344CB8AC3E}">
        <p14:creationId xmlns:p14="http://schemas.microsoft.com/office/powerpoint/2010/main" val="83300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492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卡片一：项目启动会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818D8-E5D0-8D11-93B3-348FA4614664}"/>
              </a:ext>
            </a:extLst>
          </p:cNvPr>
          <p:cNvSpPr txBox="1"/>
          <p:nvPr/>
        </p:nvSpPr>
        <p:spPr>
          <a:xfrm>
            <a:off x="371475" y="945825"/>
            <a:ext cx="11449050" cy="1033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会议名称：项目启动会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核心目的：对齐项目目标、范围、分工、里程碑，确保所有参与方信息一致。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适用场景：新项目立项、新服务商加入、新阶段启动。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338231"/>
              </p:ext>
            </p:extLst>
          </p:nvPr>
        </p:nvGraphicFramePr>
        <p:xfrm>
          <a:off x="371475" y="1970273"/>
          <a:ext cx="11485564" cy="45542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会前准备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项目章程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/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需求文档初稿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项目团队名单及角色初定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③ 时间、地点（或会议链接）提前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天发出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60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项目背景与目标（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范围与交付物（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角色与职责（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里程碑计划（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协作工具与沟通机制（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6.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风险与假设（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7. 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Q&amp;A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与确认（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发起人：介绍项目背景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项目经理：主持议程、记录纪要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参与者：确认职责、提出风险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会议纪要（含确认事项）</a:t>
                      </a:r>
                      <a:b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项目章程 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V1.0</a:t>
                      </a:r>
                      <a:br>
                        <a:rPr lang="en" altLang="zh-CN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</a:b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③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初步项目计划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24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小时内发出纪要，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天内完成章程定稿，建立项目协作空间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579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卡片二：周例会（站会</a:t>
            </a:r>
            <a:r>
              <a:rPr kumimoji="1" lang="en-US" altLang="zh-CN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/</a:t>
            </a:r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进度同步会）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818D8-E5D0-8D11-93B3-348FA4614664}"/>
              </a:ext>
            </a:extLst>
          </p:cNvPr>
          <p:cNvSpPr txBox="1"/>
          <p:nvPr/>
        </p:nvSpPr>
        <p:spPr>
          <a:xfrm>
            <a:off x="371475" y="945825"/>
            <a:ext cx="9758363" cy="1033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会议名称：周进度例会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核心目的：同步进展、暴露问题、协调资源、保持节奏。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适用场景：常规团队同步，每周固定时间。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397322"/>
              </p:ext>
            </p:extLst>
          </p:nvPr>
        </p:nvGraphicFramePr>
        <p:xfrm>
          <a:off x="371475" y="2104668"/>
          <a:ext cx="11485564" cy="32740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会前准备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各成员填写周报（进展、计划、阻碍）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主持人整理待讨论项清单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每人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分钟：上周完成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+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下周计划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+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需要帮助（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重点问题讨论（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下周关键事项确认（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主持人：控时、引导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记录人：记下行动项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参与者：如实汇报、主动求助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行动项清单（责任人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+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截止日期）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风险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/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阻碍列表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行动项录入任务系统；阻碍项由项目经理协调资源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26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卡片三：项目复盘会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818D8-E5D0-8D11-93B3-348FA4614664}"/>
              </a:ext>
            </a:extLst>
          </p:cNvPr>
          <p:cNvSpPr txBox="1"/>
          <p:nvPr/>
        </p:nvSpPr>
        <p:spPr>
          <a:xfrm>
            <a:off x="371475" y="974399"/>
            <a:ext cx="9758363" cy="1033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会议名称：项目复盘会（</a:t>
            </a:r>
            <a:r>
              <a:rPr kumimoji="1" lang="en" altLang="zh-CN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Retrospective</a:t>
            </a:r>
            <a:r>
              <a:rPr kumimoji="1" lang="zh-CN" altLang="en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核心目的：从已完成项目中提炼经验、固化优点、改进不足。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适用场景：项目交付后、里程碑结束后、月度</a:t>
            </a:r>
            <a:r>
              <a:rPr kumimoji="1" lang="en-US" altLang="zh-CN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/</a:t>
            </a: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季度复盘。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163317"/>
              </p:ext>
            </p:extLst>
          </p:nvPr>
        </p:nvGraphicFramePr>
        <p:xfrm>
          <a:off x="371475" y="2133242"/>
          <a:ext cx="11485564" cy="41275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会前准备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收集项目数据（进度、质量、满意度）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邀请所有关键参与方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③ 准备匿名反馈工具（如白板、在线表单）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90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回顾项目目标与结果（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亮点：我们做对了什么（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不足：哪里可以改进（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根因分析（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改进措施（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6.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行动承诺（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引导者：保持中立、鼓励开放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记录者：整理改进项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参与者：坦诚分享、不追责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复盘报告（亮点、不足、改进措施）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改进任务清单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改进项纳入下一阶段工作计划；复盘报告存入知识库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0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卡片四：决策会（提案</a:t>
            </a:r>
            <a:r>
              <a:rPr kumimoji="1" lang="en-US" altLang="zh-CN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/</a:t>
            </a:r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审批会）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818D8-E5D0-8D11-93B3-348FA4614664}"/>
              </a:ext>
            </a:extLst>
          </p:cNvPr>
          <p:cNvSpPr txBox="1"/>
          <p:nvPr/>
        </p:nvSpPr>
        <p:spPr>
          <a:xfrm>
            <a:off x="371475" y="945825"/>
            <a:ext cx="9758363" cy="1033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会议名称：决策会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核心目的：对重大事项（预算、合作、战略）做出明确决定。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适用场景：需要管理层审批的事项、资源分配、合作模式选择等。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693325"/>
              </p:ext>
            </p:extLst>
          </p:nvPr>
        </p:nvGraphicFramePr>
        <p:xfrm>
          <a:off x="371475" y="2104668"/>
          <a:ext cx="11485564" cy="37007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会前准备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提案人提交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《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决策提案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》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提案包含：背景、选项、利弊、推荐方案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③ 提前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48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小时发给所有决策人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90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提案人陈述（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质询与澄清（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讨论与辩论（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表决与决议（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提案人：清晰陈述、回答问题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决策人：基于事实判断、明确表态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记录人：记录决议和反对意见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会议决议（通过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/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否决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/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修改后重提）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决议执行人及期限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决议录入决策日志；执行人按决议推进；定期反馈进展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78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卡片五：头脑风暴会（创意</a:t>
            </a:r>
            <a:r>
              <a:rPr kumimoji="1" lang="en-US" altLang="zh-CN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/</a:t>
            </a:r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方案生成）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818D8-E5D0-8D11-93B3-348FA4614664}"/>
              </a:ext>
            </a:extLst>
          </p:cNvPr>
          <p:cNvSpPr txBox="1"/>
          <p:nvPr/>
        </p:nvSpPr>
        <p:spPr>
          <a:xfrm>
            <a:off x="371475" y="945825"/>
            <a:ext cx="9758363" cy="1033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会议名称：头脑风暴会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核心目的：无拘束地产生大量想法，激发创新。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适用场景：产品设计、营销创意、问题解决初期。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19785"/>
              </p:ext>
            </p:extLst>
          </p:nvPr>
        </p:nvGraphicFramePr>
        <p:xfrm>
          <a:off x="371475" y="2104668"/>
          <a:ext cx="11485564" cy="41275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会前准备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明确主题（用“我们如何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……”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句式）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准备白板、便利贴、计时器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③ 邀请跨角色、跨层级参与者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60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介绍规则（不批评、重数量、鼓励疯狂）（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个人独立思考书写（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轮流分享（每人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1-2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个想法）（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分类与组合（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投票选出最有潜力想法（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引导者：控时、维护规则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记录者：记录所有想法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参与者：积极贡献、不评判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想法清单（原始）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分类后的主题簇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③ 投票选出的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Top3-5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想法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将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Top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想法转化为行动计划；原想法存档供后续参考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000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卡片六：一对一沟通（绩效</a:t>
            </a:r>
            <a:r>
              <a:rPr kumimoji="1" lang="en-US" altLang="zh-CN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/</a:t>
            </a:r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成长面谈）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818D8-E5D0-8D11-93B3-348FA4614664}"/>
              </a:ext>
            </a:extLst>
          </p:cNvPr>
          <p:cNvSpPr txBox="1"/>
          <p:nvPr/>
        </p:nvSpPr>
        <p:spPr>
          <a:xfrm>
            <a:off x="371475" y="945825"/>
            <a:ext cx="9758363" cy="1033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会议名称：一对一沟通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核心目的：建立信任、了解员工状态、辅导成长。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适用场景：管理者与直接下属定期（双周</a:t>
            </a:r>
            <a:r>
              <a:rPr kumimoji="1" lang="en-US" altLang="zh-CN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/</a:t>
            </a: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每月）沟通。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347543"/>
              </p:ext>
            </p:extLst>
          </p:nvPr>
        </p:nvGraphicFramePr>
        <p:xfrm>
          <a:off x="371475" y="2104668"/>
          <a:ext cx="11485564" cy="34874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会前准备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员工填写简短自评（近期亮点、困难、成长需求）</a:t>
                      </a:r>
                    </a:p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管理者回顾上次承诺进展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员工分享近况（工作、情绪）（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亮点与成就（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困难与需要的支持（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成长与职业发展（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下一步行动（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管理者：倾听、提问、提供资源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员工：主动反馈、提出需求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沟通纪要（非正式，记录关键点和承诺）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员工发展计划（如有）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管理者在一周内兑现承诺；下次沟通回顾进度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487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卡片七：信息同步会（全员</a:t>
            </a:r>
            <a:r>
              <a:rPr kumimoji="1" lang="en-US" altLang="zh-CN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/</a:t>
            </a:r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大范围）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8818D8-E5D0-8D11-93B3-348FA4614664}"/>
              </a:ext>
            </a:extLst>
          </p:cNvPr>
          <p:cNvSpPr txBox="1"/>
          <p:nvPr/>
        </p:nvSpPr>
        <p:spPr>
          <a:xfrm>
            <a:off x="371475" y="974399"/>
            <a:ext cx="9758363" cy="1033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会议名称：信息同步会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核心目的：高效传达信息，减少邮件和碎片沟通。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适用场景：公司战略发布、组织架构调整、重大里程碑宣布。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778982"/>
              </p:ext>
            </p:extLst>
          </p:nvPr>
        </p:nvGraphicFramePr>
        <p:xfrm>
          <a:off x="371475" y="2133242"/>
          <a:ext cx="11485564" cy="34874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会前准备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明确要传达的核心信息（</a:t>
                      </a:r>
                      <a:r>
                        <a:rPr lang="en-US" altLang="zh-CN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3-5</a:t>
                      </a:r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条）</a:t>
                      </a:r>
                    </a:p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准备可视化材料（</a:t>
                      </a:r>
                      <a:r>
                        <a:rPr lang="en" altLang="zh-CN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PPT</a:t>
                      </a:r>
                      <a:r>
                        <a:rPr lang="zh-CN" altLang="en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、</a:t>
                      </a:r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图表）</a:t>
                      </a:r>
                    </a:p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③ 收集匿名问题渠道（如会前问卷）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30-45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核心信息发布（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关键数据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/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进展展示（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预先收集的问题解答（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现场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Q&amp;A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5-10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主讲人：清晰传达、控制时间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主持人：收集问题、引导问答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发布材料（可分享）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Q&amp;A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纪要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将材料放入知识库；未现场回答的问题书面回复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074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卡片八：专家入库评审会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66256"/>
              </p:ext>
            </p:extLst>
          </p:nvPr>
        </p:nvGraphicFramePr>
        <p:xfrm>
          <a:off x="371475" y="995987"/>
          <a:ext cx="11485564" cy="557739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4659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42673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会议名称	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专家入库评审会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42673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核心目的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评估外部专家是否具备入库资格，明确合作方向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536698"/>
                  </a:ext>
                </a:extLst>
              </a:tr>
              <a:tr h="42673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适用场景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收到专家申请或主动邀约后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609150"/>
                  </a:ext>
                </a:extLst>
              </a:tr>
              <a:tr h="16074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30-45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专家背景介绍（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专业能力展示（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平台需求匹配（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合作模式探讨（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评审结论（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98882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天机阁：提供专家背景调研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专委会：评估专业能力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生态合作部：记录结论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67852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专家入库评估表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合作意向记录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42673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通过者：发送入库邀请函；未通过者：存入人才库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109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卡片九：事业合伙人招募说明会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46708"/>
              </p:ext>
            </p:extLst>
          </p:nvPr>
        </p:nvGraphicFramePr>
        <p:xfrm>
          <a:off x="371475" y="1214438"/>
          <a:ext cx="11485564" cy="511393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4808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会议名称	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事业合伙人招募说明会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核心目的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向潜在事业合伙人介绍合作模式、权益、要求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536698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适用场景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新一批事业合伙人招募启动时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609150"/>
                  </a:ext>
                </a:extLst>
              </a:tr>
              <a:tr h="1379037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60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平台战略与生态介绍（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事业合伙人权益与职责（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成功案例分享（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Q&amp;A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报名指引（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870971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生态负责人：主讲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现有事业合伙人：分享经验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运营：组织</a:t>
                      </a:r>
                      <a:r>
                        <a:rPr lang="e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Q&amp;A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616938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招募说明材料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报名表单链接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发送回放链接；筛选报名者并安排一对一沟通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664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卡片十：网格法合伙人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445020"/>
              </p:ext>
            </p:extLst>
          </p:nvPr>
        </p:nvGraphicFramePr>
        <p:xfrm>
          <a:off x="371475" y="1214438"/>
          <a:ext cx="11485564" cy="511393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4808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会议名称	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网格划分评审会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核心目的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确定网格边界、负责人、资源分配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536698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适用场景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城市启动网格化运营时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609150"/>
                  </a:ext>
                </a:extLst>
              </a:tr>
              <a:tr h="1379037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60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城市市场分析（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网格划分方案（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负责人提名与评估（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资源支持计划（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870971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城市合伙人：提出方案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中台：评估资源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管理层：审批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616938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网格划分地图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网格负责人任命书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向各网格负责人发送任命及启动手册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351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07231E-935E-DAAB-9640-9419914FAD6A}"/>
              </a:ext>
            </a:extLst>
          </p:cNvPr>
          <p:cNvSpPr txBox="1"/>
          <p:nvPr/>
        </p:nvSpPr>
        <p:spPr>
          <a:xfrm>
            <a:off x="371475" y="225425"/>
            <a:ext cx="9386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｜卡片十一：产品介绍与推销会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9CDADAE-43F1-B9AF-BFE4-258DAF9D4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649581"/>
              </p:ext>
            </p:extLst>
          </p:nvPr>
        </p:nvGraphicFramePr>
        <p:xfrm>
          <a:off x="371475" y="1214438"/>
          <a:ext cx="11485564" cy="511393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147483472"/>
                    </a:ext>
                  </a:extLst>
                </a:gridCol>
                <a:gridCol w="9028114">
                  <a:extLst>
                    <a:ext uri="{9D8B030D-6E8A-4147-A177-3AD203B41FA5}">
                      <a16:colId xmlns:a16="http://schemas.microsoft.com/office/drawing/2014/main" val="2487050390"/>
                    </a:ext>
                  </a:extLst>
                </a:gridCol>
              </a:tblGrid>
              <a:tr h="4808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要素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内容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69936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会议名称	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产品介绍与推销会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52479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核心目的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介绍产品功能、应用场景、销售合作模式与分润比例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536698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适用场景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产品介绍与推销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609150"/>
                  </a:ext>
                </a:extLst>
              </a:tr>
              <a:tr h="1379037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标准议程（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60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相关产品系统的介绍（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2.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 本次会议介绍产品介绍（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20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3.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对外合作模式与收益分配（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15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</a:p>
                    <a:p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4.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下一步合作扫码入群（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分钟）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49713"/>
                  </a:ext>
                </a:extLst>
              </a:tr>
              <a:tr h="870971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角色职责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产品部：提出相应方案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中台：评估合作资源与成功可行性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管理层：推动与审批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6194084"/>
                  </a:ext>
                </a:extLst>
              </a:tr>
              <a:tr h="616938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产出物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① 分销群体合作模式</a:t>
                      </a:r>
                    </a:p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② 产品分销合作模式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808945"/>
                  </a:ext>
                </a:extLst>
              </a:tr>
              <a:tr h="441534"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会后跟进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OPPOSans M" pitchFamily="18" charset="-122"/>
                          <a:ea typeface="OPPOSans M" pitchFamily="18" charset="-122"/>
                          <a:cs typeface="OPPOSans M" pitchFamily="18" charset="-122"/>
                        </a:rPr>
                        <a:t>引导各参与分销人员入群，发送产品说明手册</a:t>
                      </a:r>
                      <a:endParaRPr lang="zh-CN" altLang="en-US" sz="1400" b="0" i="0" dirty="0">
                        <a:latin typeface="OPPOSans M" pitchFamily="18" charset="-122"/>
                        <a:ea typeface="OPPOSans M" pitchFamily="18" charset="-122"/>
                        <a:cs typeface="OPPOSans M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34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488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1974</Words>
  <Application>Microsoft Macintosh PowerPoint</Application>
  <PresentationFormat>宽屏</PresentationFormat>
  <Paragraphs>272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阿里巴巴普惠体</vt:lpstr>
      <vt:lpstr>阿里巴巴普惠体 2 45 Light</vt:lpstr>
      <vt:lpstr>等线</vt:lpstr>
      <vt:lpstr>等线 Light</vt:lpstr>
      <vt:lpstr>思源宋体 CN Heavy</vt:lpstr>
      <vt:lpstr>OPPOSans B</vt:lpstr>
      <vt:lpstr>OPPOSans H</vt:lpstr>
      <vt:lpstr>OPPOSans M</vt:lpstr>
      <vt:lpstr>Arial</vt:lpstr>
      <vt:lpstr>Nirmala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5</cp:revision>
  <dcterms:created xsi:type="dcterms:W3CDTF">2026-04-06T08:54:38Z</dcterms:created>
  <dcterms:modified xsi:type="dcterms:W3CDTF">2026-05-14T03:10:04Z</dcterms:modified>
</cp:coreProperties>
</file>